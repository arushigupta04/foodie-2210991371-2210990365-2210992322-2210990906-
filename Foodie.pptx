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1" r:id="rId1"/>
  </p:sldMasterIdLst>
  <p:notesMasterIdLst>
    <p:notesMasterId r:id="rId22"/>
  </p:notesMasterIdLst>
  <p:sldIdLst>
    <p:sldId id="256" r:id="rId2"/>
    <p:sldId id="257" r:id="rId3"/>
    <p:sldId id="258" r:id="rId4"/>
    <p:sldId id="259" r:id="rId5"/>
    <p:sldId id="260" r:id="rId6"/>
    <p:sldId id="262" r:id="rId7"/>
    <p:sldId id="261"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691"/>
  </p:normalViewPr>
  <p:slideViewPr>
    <p:cSldViewPr snapToGrid="0">
      <p:cViewPr varScale="1">
        <p:scale>
          <a:sx n="103" d="100"/>
          <a:sy n="103" d="100"/>
        </p:scale>
        <p:origin x="1880" y="16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 name="Google Shape;48;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4" name="Google Shape;54;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 name="Google Shape;61;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p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8" name="Google Shape;68;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p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5" name="Google Shape;75;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0" name="Google Shape;90;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3" name="Google Shape;83;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7" name="Google Shape;97;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6" name="Google Shape;106;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1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4" name="Google Shape;114;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16df05373bacbf44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1" name="Google Shape;121;g16df05373bacbf44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16df05373bacbf44_2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8" name="Google Shape;128;g16df05373bacbf44_2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g16df05373bacbf44_1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6" name="Google Shape;136;g16df05373bacbf44_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16df05373bacbf44_1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3" name="Google Shape;143;g16df05373bacbf44_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g16df05373bacbf44_4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0" name="Google Shape;150;g16df05373bacbf44_4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16df05373bacbf44_3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8" name="Google Shape;158;g16df05373bacbf44_3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6" name="Google Shape;166;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1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3" name="Google Shape;173;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1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0" name="Google Shape;180;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p1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7" name="Google Shape;187;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4"/>
        <p:cNvGrpSpPr/>
        <p:nvPr/>
      </p:nvGrpSpPr>
      <p:grpSpPr>
        <a:xfrm>
          <a:off x="0" y="0"/>
          <a:ext cx="0" cy="0"/>
          <a:chOff x="0" y="0"/>
          <a:chExt cx="0" cy="0"/>
        </a:xfrm>
      </p:grpSpPr>
      <p:sp>
        <p:nvSpPr>
          <p:cNvPr id="25" name="Google Shape;25;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transition>
    <p:fade thruBlk="1"/>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8"/>
        <p:cNvGrpSpPr/>
        <p:nvPr/>
      </p:nvGrpSpPr>
      <p:grpSpPr>
        <a:xfrm>
          <a:off x="0" y="0"/>
          <a:ext cx="0" cy="0"/>
          <a:chOff x="0" y="0"/>
          <a:chExt cx="0" cy="0"/>
        </a:xfrm>
      </p:grpSpPr>
      <p:pic>
        <p:nvPicPr>
          <p:cNvPr id="29" name="Google Shape;29;p3" descr="LOGO.gif"/>
          <p:cNvPicPr preferRelativeResize="0"/>
          <p:nvPr/>
        </p:nvPicPr>
        <p:blipFill rotWithShape="1">
          <a:blip r:embed="rId2">
            <a:alphaModFix/>
          </a:blip>
          <a:srcRect b="10713"/>
          <a:stretch/>
        </p:blipFill>
        <p:spPr>
          <a:xfrm>
            <a:off x="6553200" y="228600"/>
            <a:ext cx="2057400" cy="635000"/>
          </a:xfrm>
          <a:prstGeom prst="rect">
            <a:avLst/>
          </a:prstGeom>
          <a:noFill/>
          <a:ln>
            <a:noFill/>
          </a:ln>
        </p:spPr>
      </p:pic>
      <p:grpSp>
        <p:nvGrpSpPr>
          <p:cNvPr id="30" name="Google Shape;30;p3"/>
          <p:cNvGrpSpPr/>
          <p:nvPr/>
        </p:nvGrpSpPr>
        <p:grpSpPr>
          <a:xfrm>
            <a:off x="6146800" y="0"/>
            <a:ext cx="2997200" cy="876300"/>
            <a:chOff x="6096000" y="3924300"/>
            <a:chExt cx="2997200" cy="876300"/>
          </a:xfrm>
        </p:grpSpPr>
        <p:sp>
          <p:nvSpPr>
            <p:cNvPr id="31" name="Google Shape;31;p3"/>
            <p:cNvSpPr/>
            <p:nvPr/>
          </p:nvSpPr>
          <p:spPr>
            <a:xfrm>
              <a:off x="6096000" y="3924300"/>
              <a:ext cx="2997200" cy="838200"/>
            </a:xfrm>
            <a:prstGeom prst="rect">
              <a:avLst/>
            </a:prstGeom>
            <a:solidFill>
              <a:srgbClr val="FF33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32" name="Google Shape;32;p3" descr="LOGO.gif"/>
            <p:cNvPicPr preferRelativeResize="0"/>
            <p:nvPr/>
          </p:nvPicPr>
          <p:blipFill rotWithShape="1">
            <a:blip r:embed="rId2">
              <a:alphaModFix/>
            </a:blip>
            <a:srcRect b="10713"/>
            <a:stretch/>
          </p:blipFill>
          <p:spPr>
            <a:xfrm>
              <a:off x="6502400" y="4152900"/>
              <a:ext cx="2057400" cy="635000"/>
            </a:xfrm>
            <a:prstGeom prst="rect">
              <a:avLst/>
            </a:prstGeom>
            <a:noFill/>
            <a:ln>
              <a:noFill/>
            </a:ln>
          </p:spPr>
        </p:pic>
        <p:sp>
          <p:nvSpPr>
            <p:cNvPr id="33" name="Google Shape;33;p3"/>
            <p:cNvSpPr/>
            <p:nvPr/>
          </p:nvSpPr>
          <p:spPr>
            <a:xfrm>
              <a:off x="6477000" y="4114800"/>
              <a:ext cx="2076450" cy="6858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pic>
        <p:nvPicPr>
          <p:cNvPr id="34" name="Google Shape;34;p3" descr="logo.jpg"/>
          <p:cNvPicPr preferRelativeResize="0"/>
          <p:nvPr/>
        </p:nvPicPr>
        <p:blipFill rotWithShape="1">
          <a:blip r:embed="rId3">
            <a:alphaModFix/>
          </a:blip>
          <a:srcRect/>
          <a:stretch/>
        </p:blipFill>
        <p:spPr>
          <a:xfrm>
            <a:off x="6553200" y="228600"/>
            <a:ext cx="1920875" cy="609600"/>
          </a:xfrm>
          <a:prstGeom prst="rect">
            <a:avLst/>
          </a:prstGeom>
          <a:noFill/>
          <a:ln>
            <a:noFill/>
          </a:ln>
        </p:spPr>
      </p:pic>
      <p:sp>
        <p:nvSpPr>
          <p:cNvPr id="35" name="Google Shape;35;p3"/>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3200">
                <a:latin typeface="Times New Roman"/>
                <a:ea typeface="Times New Roman"/>
                <a:cs typeface="Times New Roman"/>
                <a:sym typeface="Times New Roman"/>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36" name="Google Shape;36;p3"/>
          <p:cNvSpPr txBox="1">
            <a:spLocks noGrp="1"/>
          </p:cNvSpPr>
          <p:nvPr>
            <p:ph type="body" idx="1"/>
          </p:nvPr>
        </p:nvSpPr>
        <p:spPr>
          <a:xfrm>
            <a:off x="457200" y="1371600"/>
            <a:ext cx="8229600" cy="4525963"/>
          </a:xfrm>
          <a:prstGeom prst="rect">
            <a:avLst/>
          </a:prstGeom>
          <a:noFill/>
          <a:ln>
            <a:noFill/>
          </a:ln>
        </p:spPr>
        <p:txBody>
          <a:bodyPr spcFirstLastPara="1" wrap="square" lIns="91425" tIns="45700" rIns="91425" bIns="45700" anchor="t" anchorCtr="0">
            <a:noAutofit/>
          </a:bodyPr>
          <a:lstStyle>
            <a:lvl1pPr marL="457200" lvl="0" indent="-368300" algn="l">
              <a:spcBef>
                <a:spcPts val="440"/>
              </a:spcBef>
              <a:spcAft>
                <a:spcPts val="0"/>
              </a:spcAft>
              <a:buClr>
                <a:schemeClr val="dk1"/>
              </a:buClr>
              <a:buSzPts val="2200"/>
              <a:buChar char="•"/>
              <a:defRPr sz="2200">
                <a:latin typeface="Times New Roman"/>
                <a:ea typeface="Times New Roman"/>
                <a:cs typeface="Times New Roman"/>
                <a:sym typeface="Times New Roman"/>
              </a:defRPr>
            </a:lvl1pPr>
            <a:lvl2pPr marL="914400" lvl="1" indent="-368300" algn="l">
              <a:spcBef>
                <a:spcPts val="440"/>
              </a:spcBef>
              <a:spcAft>
                <a:spcPts val="0"/>
              </a:spcAft>
              <a:buClr>
                <a:schemeClr val="dk1"/>
              </a:buClr>
              <a:buSzPts val="2200"/>
              <a:buChar char="–"/>
              <a:defRPr sz="2200">
                <a:latin typeface="Times New Roman"/>
                <a:ea typeface="Times New Roman"/>
                <a:cs typeface="Times New Roman"/>
                <a:sym typeface="Times New Roman"/>
              </a:defRPr>
            </a:lvl2pPr>
            <a:lvl3pPr marL="1371600" lvl="2" indent="-368300" algn="l">
              <a:spcBef>
                <a:spcPts val="440"/>
              </a:spcBef>
              <a:spcAft>
                <a:spcPts val="0"/>
              </a:spcAft>
              <a:buClr>
                <a:schemeClr val="dk1"/>
              </a:buClr>
              <a:buSzPts val="2200"/>
              <a:buChar char="•"/>
              <a:defRPr sz="2200">
                <a:latin typeface="Times New Roman"/>
                <a:ea typeface="Times New Roman"/>
                <a:cs typeface="Times New Roman"/>
                <a:sym typeface="Times New Roman"/>
              </a:defRPr>
            </a:lvl3pPr>
            <a:lvl4pPr marL="1828800" lvl="3" indent="-368300" algn="l">
              <a:spcBef>
                <a:spcPts val="440"/>
              </a:spcBef>
              <a:spcAft>
                <a:spcPts val="0"/>
              </a:spcAft>
              <a:buClr>
                <a:schemeClr val="dk1"/>
              </a:buClr>
              <a:buSzPts val="2200"/>
              <a:buChar char="–"/>
              <a:defRPr sz="2200">
                <a:latin typeface="Times New Roman"/>
                <a:ea typeface="Times New Roman"/>
                <a:cs typeface="Times New Roman"/>
                <a:sym typeface="Times New Roman"/>
              </a:defRPr>
            </a:lvl4pPr>
            <a:lvl5pPr marL="2286000" lvl="4" indent="-368300" algn="l">
              <a:spcBef>
                <a:spcPts val="440"/>
              </a:spcBef>
              <a:spcAft>
                <a:spcPts val="0"/>
              </a:spcAft>
              <a:buClr>
                <a:schemeClr val="dk1"/>
              </a:buClr>
              <a:buSzPts val="2200"/>
              <a:buChar char="»"/>
              <a:defRPr sz="2200">
                <a:latin typeface="Times New Roman"/>
                <a:ea typeface="Times New Roman"/>
                <a:cs typeface="Times New Roman"/>
                <a:sym typeface="Times New Roman"/>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7" name="Google Shape;37;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1">
                <a:solidFill>
                  <a:srgbClr val="0070C0"/>
                </a:solidFill>
                <a:latin typeface="Times New Roman"/>
                <a:ea typeface="Times New Roman"/>
                <a:cs typeface="Times New Roman"/>
                <a:sym typeface="Times New Roman"/>
              </a:defRPr>
            </a:lvl1pPr>
            <a:lvl2pPr marL="0" lvl="1" indent="0" algn="r">
              <a:spcBef>
                <a:spcPts val="0"/>
              </a:spcBef>
              <a:buNone/>
              <a:defRPr sz="1200" b="1">
                <a:solidFill>
                  <a:srgbClr val="0070C0"/>
                </a:solidFill>
                <a:latin typeface="Times New Roman"/>
                <a:ea typeface="Times New Roman"/>
                <a:cs typeface="Times New Roman"/>
                <a:sym typeface="Times New Roman"/>
              </a:defRPr>
            </a:lvl2pPr>
            <a:lvl3pPr marL="0" lvl="2" indent="0" algn="r">
              <a:spcBef>
                <a:spcPts val="0"/>
              </a:spcBef>
              <a:buNone/>
              <a:defRPr sz="1200" b="1">
                <a:solidFill>
                  <a:srgbClr val="0070C0"/>
                </a:solidFill>
                <a:latin typeface="Times New Roman"/>
                <a:ea typeface="Times New Roman"/>
                <a:cs typeface="Times New Roman"/>
                <a:sym typeface="Times New Roman"/>
              </a:defRPr>
            </a:lvl3pPr>
            <a:lvl4pPr marL="0" lvl="3" indent="0" algn="r">
              <a:spcBef>
                <a:spcPts val="0"/>
              </a:spcBef>
              <a:buNone/>
              <a:defRPr sz="1200" b="1">
                <a:solidFill>
                  <a:srgbClr val="0070C0"/>
                </a:solidFill>
                <a:latin typeface="Times New Roman"/>
                <a:ea typeface="Times New Roman"/>
                <a:cs typeface="Times New Roman"/>
                <a:sym typeface="Times New Roman"/>
              </a:defRPr>
            </a:lvl4pPr>
            <a:lvl5pPr marL="0" lvl="4" indent="0" algn="r">
              <a:spcBef>
                <a:spcPts val="0"/>
              </a:spcBef>
              <a:buNone/>
              <a:defRPr sz="1200" b="1">
                <a:solidFill>
                  <a:srgbClr val="0070C0"/>
                </a:solidFill>
                <a:latin typeface="Times New Roman"/>
                <a:ea typeface="Times New Roman"/>
                <a:cs typeface="Times New Roman"/>
                <a:sym typeface="Times New Roman"/>
              </a:defRPr>
            </a:lvl5pPr>
            <a:lvl6pPr marL="0" lvl="5" indent="0" algn="r">
              <a:spcBef>
                <a:spcPts val="0"/>
              </a:spcBef>
              <a:buNone/>
              <a:defRPr sz="1200" b="1">
                <a:solidFill>
                  <a:srgbClr val="0070C0"/>
                </a:solidFill>
                <a:latin typeface="Times New Roman"/>
                <a:ea typeface="Times New Roman"/>
                <a:cs typeface="Times New Roman"/>
                <a:sym typeface="Times New Roman"/>
              </a:defRPr>
            </a:lvl6pPr>
            <a:lvl7pPr marL="0" lvl="6" indent="0" algn="r">
              <a:spcBef>
                <a:spcPts val="0"/>
              </a:spcBef>
              <a:buNone/>
              <a:defRPr sz="1200" b="1">
                <a:solidFill>
                  <a:srgbClr val="0070C0"/>
                </a:solidFill>
                <a:latin typeface="Times New Roman"/>
                <a:ea typeface="Times New Roman"/>
                <a:cs typeface="Times New Roman"/>
                <a:sym typeface="Times New Roman"/>
              </a:defRPr>
            </a:lvl7pPr>
            <a:lvl8pPr marL="0" lvl="7" indent="0" algn="r">
              <a:spcBef>
                <a:spcPts val="0"/>
              </a:spcBef>
              <a:buNone/>
              <a:defRPr sz="1200" b="1">
                <a:solidFill>
                  <a:srgbClr val="0070C0"/>
                </a:solidFill>
                <a:latin typeface="Times New Roman"/>
                <a:ea typeface="Times New Roman"/>
                <a:cs typeface="Times New Roman"/>
                <a:sym typeface="Times New Roman"/>
              </a:defRPr>
            </a:lvl8pPr>
            <a:lvl9pPr marL="0" lvl="8" indent="0" algn="r">
              <a:spcBef>
                <a:spcPts val="0"/>
              </a:spcBef>
              <a:buNone/>
              <a:defRPr sz="1200" b="1">
                <a:solidFill>
                  <a:srgbClr val="0070C0"/>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transition>
    <p:fade thruBlk="1"/>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40"/>
        <p:cNvGrpSpPr/>
        <p:nvPr/>
      </p:nvGrpSpPr>
      <p:grpSpPr>
        <a:xfrm>
          <a:off x="0" y="0"/>
          <a:ext cx="0" cy="0"/>
          <a:chOff x="0" y="0"/>
          <a:chExt cx="0" cy="0"/>
        </a:xfrm>
      </p:grpSpPr>
      <p:sp>
        <p:nvSpPr>
          <p:cNvPr id="41" name="Google Shape;41;p4"/>
          <p:cNvSpPr txBox="1">
            <a:spLocks noGrp="1"/>
          </p:cNvSpPr>
          <p:nvPr>
            <p:ph type="ctrTitle"/>
          </p:nvPr>
        </p:nvSpPr>
        <p:spPr>
          <a:xfrm>
            <a:off x="0" y="1"/>
            <a:ext cx="5486400" cy="914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3200" b="1">
                <a:latin typeface="Times New Roman"/>
                <a:ea typeface="Times New Roman"/>
                <a:cs typeface="Times New Roman"/>
                <a:sym typeface="Times New Roman"/>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42" name="Google Shape;42;p4"/>
          <p:cNvSpPr txBox="1">
            <a:spLocks noGrp="1"/>
          </p:cNvSpPr>
          <p:nvPr>
            <p:ph type="subTitle" idx="1"/>
          </p:nvPr>
        </p:nvSpPr>
        <p:spPr>
          <a:xfrm>
            <a:off x="533400" y="1371600"/>
            <a:ext cx="8153400" cy="4724400"/>
          </a:xfrm>
          <a:prstGeom prst="rect">
            <a:avLst/>
          </a:prstGeom>
          <a:noFill/>
          <a:ln>
            <a:noFill/>
          </a:ln>
        </p:spPr>
        <p:txBody>
          <a:bodyPr spcFirstLastPara="1" wrap="square" lIns="91425" tIns="45700" rIns="91425" bIns="45700" anchor="t" anchorCtr="0">
            <a:no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43" name="Google Shape;43;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 name="Google Shape;45;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1">
                <a:solidFill>
                  <a:srgbClr val="0070C0"/>
                </a:solidFill>
                <a:latin typeface="Times New Roman"/>
                <a:ea typeface="Times New Roman"/>
                <a:cs typeface="Times New Roman"/>
                <a:sym typeface="Times New Roman"/>
              </a:defRPr>
            </a:lvl1pPr>
            <a:lvl2pPr marL="0" lvl="1" indent="0" algn="r">
              <a:spcBef>
                <a:spcPts val="0"/>
              </a:spcBef>
              <a:buNone/>
              <a:defRPr sz="1200" b="1">
                <a:solidFill>
                  <a:srgbClr val="0070C0"/>
                </a:solidFill>
                <a:latin typeface="Times New Roman"/>
                <a:ea typeface="Times New Roman"/>
                <a:cs typeface="Times New Roman"/>
                <a:sym typeface="Times New Roman"/>
              </a:defRPr>
            </a:lvl2pPr>
            <a:lvl3pPr marL="0" lvl="2" indent="0" algn="r">
              <a:spcBef>
                <a:spcPts val="0"/>
              </a:spcBef>
              <a:buNone/>
              <a:defRPr sz="1200" b="1">
                <a:solidFill>
                  <a:srgbClr val="0070C0"/>
                </a:solidFill>
                <a:latin typeface="Times New Roman"/>
                <a:ea typeface="Times New Roman"/>
                <a:cs typeface="Times New Roman"/>
                <a:sym typeface="Times New Roman"/>
              </a:defRPr>
            </a:lvl3pPr>
            <a:lvl4pPr marL="0" lvl="3" indent="0" algn="r">
              <a:spcBef>
                <a:spcPts val="0"/>
              </a:spcBef>
              <a:buNone/>
              <a:defRPr sz="1200" b="1">
                <a:solidFill>
                  <a:srgbClr val="0070C0"/>
                </a:solidFill>
                <a:latin typeface="Times New Roman"/>
                <a:ea typeface="Times New Roman"/>
                <a:cs typeface="Times New Roman"/>
                <a:sym typeface="Times New Roman"/>
              </a:defRPr>
            </a:lvl4pPr>
            <a:lvl5pPr marL="0" lvl="4" indent="0" algn="r">
              <a:spcBef>
                <a:spcPts val="0"/>
              </a:spcBef>
              <a:buNone/>
              <a:defRPr sz="1200" b="1">
                <a:solidFill>
                  <a:srgbClr val="0070C0"/>
                </a:solidFill>
                <a:latin typeface="Times New Roman"/>
                <a:ea typeface="Times New Roman"/>
                <a:cs typeface="Times New Roman"/>
                <a:sym typeface="Times New Roman"/>
              </a:defRPr>
            </a:lvl5pPr>
            <a:lvl6pPr marL="0" lvl="5" indent="0" algn="r">
              <a:spcBef>
                <a:spcPts val="0"/>
              </a:spcBef>
              <a:buNone/>
              <a:defRPr sz="1200" b="1">
                <a:solidFill>
                  <a:srgbClr val="0070C0"/>
                </a:solidFill>
                <a:latin typeface="Times New Roman"/>
                <a:ea typeface="Times New Roman"/>
                <a:cs typeface="Times New Roman"/>
                <a:sym typeface="Times New Roman"/>
              </a:defRPr>
            </a:lvl6pPr>
            <a:lvl7pPr marL="0" lvl="6" indent="0" algn="r">
              <a:spcBef>
                <a:spcPts val="0"/>
              </a:spcBef>
              <a:buNone/>
              <a:defRPr sz="1200" b="1">
                <a:solidFill>
                  <a:srgbClr val="0070C0"/>
                </a:solidFill>
                <a:latin typeface="Times New Roman"/>
                <a:ea typeface="Times New Roman"/>
                <a:cs typeface="Times New Roman"/>
                <a:sym typeface="Times New Roman"/>
              </a:defRPr>
            </a:lvl7pPr>
            <a:lvl8pPr marL="0" lvl="7" indent="0" algn="r">
              <a:spcBef>
                <a:spcPts val="0"/>
              </a:spcBef>
              <a:buNone/>
              <a:defRPr sz="1200" b="1">
                <a:solidFill>
                  <a:srgbClr val="0070C0"/>
                </a:solidFill>
                <a:latin typeface="Times New Roman"/>
                <a:ea typeface="Times New Roman"/>
                <a:cs typeface="Times New Roman"/>
                <a:sym typeface="Times New Roman"/>
              </a:defRPr>
            </a:lvl8pPr>
            <a:lvl9pPr marL="0" lvl="8" indent="0" algn="r">
              <a:spcBef>
                <a:spcPts val="0"/>
              </a:spcBef>
              <a:buNone/>
              <a:defRPr sz="1200" b="1">
                <a:solidFill>
                  <a:srgbClr val="0070C0"/>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transition>
    <p:fade thruBlk="1"/>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jpg"/><Relationship Id="rId5" Type="http://schemas.openxmlformats.org/officeDocument/2006/relationships/image" Target="../media/image1.pn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3000" b="0" i="0" u="none" strike="noStrike" cap="none">
                <a:solidFill>
                  <a:schemeClr val="dk1"/>
                </a:solidFill>
                <a:latin typeface="Calibri"/>
                <a:ea typeface="Calibri"/>
                <a:cs typeface="Calibri"/>
                <a:sym typeface="Calibri"/>
              </a:defRPr>
            </a:lvl1pPr>
            <a:lvl2pPr marR="0" lvl="1" algn="ctr" rtl="0">
              <a:spcBef>
                <a:spcPts val="0"/>
              </a:spcBef>
              <a:spcAft>
                <a:spcPts val="0"/>
              </a:spcAft>
              <a:buSzPts val="1400"/>
              <a:buNone/>
              <a:defRPr sz="3000" b="0" i="0" u="none" strike="noStrike" cap="none">
                <a:solidFill>
                  <a:schemeClr val="dk1"/>
                </a:solidFill>
                <a:latin typeface="Calibri"/>
                <a:ea typeface="Calibri"/>
                <a:cs typeface="Calibri"/>
                <a:sym typeface="Calibri"/>
              </a:defRPr>
            </a:lvl2pPr>
            <a:lvl3pPr marR="0" lvl="2" algn="ctr" rtl="0">
              <a:spcBef>
                <a:spcPts val="0"/>
              </a:spcBef>
              <a:spcAft>
                <a:spcPts val="0"/>
              </a:spcAft>
              <a:buSzPts val="1400"/>
              <a:buNone/>
              <a:defRPr sz="3000" b="0" i="0" u="none" strike="noStrike" cap="none">
                <a:solidFill>
                  <a:schemeClr val="dk1"/>
                </a:solidFill>
                <a:latin typeface="Calibri"/>
                <a:ea typeface="Calibri"/>
                <a:cs typeface="Calibri"/>
                <a:sym typeface="Calibri"/>
              </a:defRPr>
            </a:lvl3pPr>
            <a:lvl4pPr marR="0" lvl="3" algn="ctr" rtl="0">
              <a:spcBef>
                <a:spcPts val="0"/>
              </a:spcBef>
              <a:spcAft>
                <a:spcPts val="0"/>
              </a:spcAft>
              <a:buSzPts val="1400"/>
              <a:buNone/>
              <a:defRPr sz="3000" b="0" i="0" u="none" strike="noStrike" cap="none">
                <a:solidFill>
                  <a:schemeClr val="dk1"/>
                </a:solidFill>
                <a:latin typeface="Calibri"/>
                <a:ea typeface="Calibri"/>
                <a:cs typeface="Calibri"/>
                <a:sym typeface="Calibri"/>
              </a:defRPr>
            </a:lvl4pPr>
            <a:lvl5pPr marR="0" lvl="4" algn="ctr" rtl="0">
              <a:spcBef>
                <a:spcPts val="0"/>
              </a:spcBef>
              <a:spcAft>
                <a:spcPts val="0"/>
              </a:spcAft>
              <a:buSzPts val="1400"/>
              <a:buNone/>
              <a:defRPr sz="3000" b="0" i="0" u="none" strike="noStrike" cap="none">
                <a:solidFill>
                  <a:schemeClr val="dk1"/>
                </a:solidFill>
                <a:latin typeface="Calibri"/>
                <a:ea typeface="Calibri"/>
                <a:cs typeface="Calibri"/>
                <a:sym typeface="Calibri"/>
              </a:defRPr>
            </a:lvl5pPr>
            <a:lvl6pPr marR="0" lvl="5" algn="ctr" rtl="0">
              <a:spcBef>
                <a:spcPts val="0"/>
              </a:spcBef>
              <a:spcAft>
                <a:spcPts val="0"/>
              </a:spcAft>
              <a:buSzPts val="1400"/>
              <a:buNone/>
              <a:defRPr sz="3000" b="0" i="0" u="none" strike="noStrike" cap="none">
                <a:solidFill>
                  <a:schemeClr val="dk1"/>
                </a:solidFill>
                <a:latin typeface="Calibri"/>
                <a:ea typeface="Calibri"/>
                <a:cs typeface="Calibri"/>
                <a:sym typeface="Calibri"/>
              </a:defRPr>
            </a:lvl6pPr>
            <a:lvl7pPr marR="0" lvl="6" algn="ctr" rtl="0">
              <a:spcBef>
                <a:spcPts val="0"/>
              </a:spcBef>
              <a:spcAft>
                <a:spcPts val="0"/>
              </a:spcAft>
              <a:buSzPts val="1400"/>
              <a:buNone/>
              <a:defRPr sz="3000" b="0" i="0" u="none" strike="noStrike" cap="none">
                <a:solidFill>
                  <a:schemeClr val="dk1"/>
                </a:solidFill>
                <a:latin typeface="Calibri"/>
                <a:ea typeface="Calibri"/>
                <a:cs typeface="Calibri"/>
                <a:sym typeface="Calibri"/>
              </a:defRPr>
            </a:lvl7pPr>
            <a:lvl8pPr marR="0" lvl="7" algn="ctr" rtl="0">
              <a:spcBef>
                <a:spcPts val="0"/>
              </a:spcBef>
              <a:spcAft>
                <a:spcPts val="0"/>
              </a:spcAft>
              <a:buSzPts val="1400"/>
              <a:buNone/>
              <a:defRPr sz="3000" b="0" i="0" u="none" strike="noStrike" cap="none">
                <a:solidFill>
                  <a:schemeClr val="dk1"/>
                </a:solidFill>
                <a:latin typeface="Calibri"/>
                <a:ea typeface="Calibri"/>
                <a:cs typeface="Calibri"/>
                <a:sym typeface="Calibri"/>
              </a:defRPr>
            </a:lvl8pPr>
            <a:lvl9pPr marR="0" lvl="8" algn="ctr" rtl="0">
              <a:spcBef>
                <a:spcPts val="0"/>
              </a:spcBef>
              <a:spcAft>
                <a:spcPts val="0"/>
              </a:spcAft>
              <a:buSzPts val="1400"/>
              <a:buNone/>
              <a:defRPr sz="3000" b="0" i="0" u="none" strike="noStrike" cap="none">
                <a:solidFill>
                  <a:schemeClr val="dk1"/>
                </a:solidFill>
                <a:latin typeface="Calibri"/>
                <a:ea typeface="Calibri"/>
                <a:cs typeface="Calibri"/>
                <a:sym typeface="Calibri"/>
              </a:defRPr>
            </a:lvl9pPr>
          </a:lstStyle>
          <a:p>
            <a:endParaRPr/>
          </a:p>
        </p:txBody>
      </p:sp>
      <p:sp>
        <p:nvSpPr>
          <p:cNvPr id="11" name="Google Shape;11;p1"/>
          <p:cNvSpPr txBox="1">
            <a:spLocks noGrp="1"/>
          </p:cNvSpPr>
          <p:nvPr>
            <p:ph type="body" idx="1"/>
          </p:nvPr>
        </p:nvSpPr>
        <p:spPr>
          <a:xfrm>
            <a:off x="457200" y="1371600"/>
            <a:ext cx="8229600" cy="4525963"/>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1" i="0" u="none" strike="noStrike" cap="none">
                <a:solidFill>
                  <a:srgbClr val="0070C0"/>
                </a:solidFill>
                <a:latin typeface="Times New Roman"/>
                <a:ea typeface="Times New Roman"/>
                <a:cs typeface="Times New Roman"/>
                <a:sym typeface="Times New Roman"/>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1" i="0" u="none" strike="noStrike" cap="none">
                <a:solidFill>
                  <a:srgbClr val="0070C0"/>
                </a:solidFill>
                <a:latin typeface="Times New Roman"/>
                <a:ea typeface="Times New Roman"/>
                <a:cs typeface="Times New Roman"/>
                <a:sym typeface="Times New Roman"/>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1" i="0" u="none" strike="noStrike" cap="none">
                <a:solidFill>
                  <a:srgbClr val="0070C0"/>
                </a:solidFill>
                <a:latin typeface="Times New Roman"/>
                <a:ea typeface="Times New Roman"/>
                <a:cs typeface="Times New Roman"/>
                <a:sym typeface="Times New Roman"/>
              </a:defRPr>
            </a:lvl1pPr>
            <a:lvl2pPr marL="0" marR="0" lvl="1" indent="0" algn="r" rtl="0">
              <a:spcBef>
                <a:spcPts val="0"/>
              </a:spcBef>
              <a:buNone/>
              <a:defRPr sz="1200" b="1" i="0" u="none" strike="noStrike" cap="none">
                <a:solidFill>
                  <a:srgbClr val="0070C0"/>
                </a:solidFill>
                <a:latin typeface="Times New Roman"/>
                <a:ea typeface="Times New Roman"/>
                <a:cs typeface="Times New Roman"/>
                <a:sym typeface="Times New Roman"/>
              </a:defRPr>
            </a:lvl2pPr>
            <a:lvl3pPr marL="0" marR="0" lvl="2" indent="0" algn="r" rtl="0">
              <a:spcBef>
                <a:spcPts val="0"/>
              </a:spcBef>
              <a:buNone/>
              <a:defRPr sz="1200" b="1" i="0" u="none" strike="noStrike" cap="none">
                <a:solidFill>
                  <a:srgbClr val="0070C0"/>
                </a:solidFill>
                <a:latin typeface="Times New Roman"/>
                <a:ea typeface="Times New Roman"/>
                <a:cs typeface="Times New Roman"/>
                <a:sym typeface="Times New Roman"/>
              </a:defRPr>
            </a:lvl3pPr>
            <a:lvl4pPr marL="0" marR="0" lvl="3" indent="0" algn="r" rtl="0">
              <a:spcBef>
                <a:spcPts val="0"/>
              </a:spcBef>
              <a:buNone/>
              <a:defRPr sz="1200" b="1" i="0" u="none" strike="noStrike" cap="none">
                <a:solidFill>
                  <a:srgbClr val="0070C0"/>
                </a:solidFill>
                <a:latin typeface="Times New Roman"/>
                <a:ea typeface="Times New Roman"/>
                <a:cs typeface="Times New Roman"/>
                <a:sym typeface="Times New Roman"/>
              </a:defRPr>
            </a:lvl4pPr>
            <a:lvl5pPr marL="0" marR="0" lvl="4" indent="0" algn="r" rtl="0">
              <a:spcBef>
                <a:spcPts val="0"/>
              </a:spcBef>
              <a:buNone/>
              <a:defRPr sz="1200" b="1" i="0" u="none" strike="noStrike" cap="none">
                <a:solidFill>
                  <a:srgbClr val="0070C0"/>
                </a:solidFill>
                <a:latin typeface="Times New Roman"/>
                <a:ea typeface="Times New Roman"/>
                <a:cs typeface="Times New Roman"/>
                <a:sym typeface="Times New Roman"/>
              </a:defRPr>
            </a:lvl5pPr>
            <a:lvl6pPr marL="0" marR="0" lvl="5" indent="0" algn="r" rtl="0">
              <a:spcBef>
                <a:spcPts val="0"/>
              </a:spcBef>
              <a:buNone/>
              <a:defRPr sz="1200" b="1" i="0" u="none" strike="noStrike" cap="none">
                <a:solidFill>
                  <a:srgbClr val="0070C0"/>
                </a:solidFill>
                <a:latin typeface="Times New Roman"/>
                <a:ea typeface="Times New Roman"/>
                <a:cs typeface="Times New Roman"/>
                <a:sym typeface="Times New Roman"/>
              </a:defRPr>
            </a:lvl6pPr>
            <a:lvl7pPr marL="0" marR="0" lvl="6" indent="0" algn="r" rtl="0">
              <a:spcBef>
                <a:spcPts val="0"/>
              </a:spcBef>
              <a:buNone/>
              <a:defRPr sz="1200" b="1" i="0" u="none" strike="noStrike" cap="none">
                <a:solidFill>
                  <a:srgbClr val="0070C0"/>
                </a:solidFill>
                <a:latin typeface="Times New Roman"/>
                <a:ea typeface="Times New Roman"/>
                <a:cs typeface="Times New Roman"/>
                <a:sym typeface="Times New Roman"/>
              </a:defRPr>
            </a:lvl7pPr>
            <a:lvl8pPr marL="0" marR="0" lvl="7" indent="0" algn="r" rtl="0">
              <a:spcBef>
                <a:spcPts val="0"/>
              </a:spcBef>
              <a:buNone/>
              <a:defRPr sz="1200" b="1" i="0" u="none" strike="noStrike" cap="none">
                <a:solidFill>
                  <a:srgbClr val="0070C0"/>
                </a:solidFill>
                <a:latin typeface="Times New Roman"/>
                <a:ea typeface="Times New Roman"/>
                <a:cs typeface="Times New Roman"/>
                <a:sym typeface="Times New Roman"/>
              </a:defRPr>
            </a:lvl8pPr>
            <a:lvl9pPr marL="0" marR="0" lvl="8" indent="0" algn="r" rtl="0">
              <a:spcBef>
                <a:spcPts val="0"/>
              </a:spcBef>
              <a:buNone/>
              <a:defRPr sz="1200" b="1" i="0" u="none" strike="noStrike" cap="none">
                <a:solidFill>
                  <a:srgbClr val="0070C0"/>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IN"/>
              <a:t>‹#›</a:t>
            </a:fld>
            <a:endParaRPr/>
          </a:p>
        </p:txBody>
      </p:sp>
      <p:sp>
        <p:nvSpPr>
          <p:cNvPr id="15" name="Google Shape;15;p1"/>
          <p:cNvSpPr/>
          <p:nvPr/>
        </p:nvSpPr>
        <p:spPr>
          <a:xfrm>
            <a:off x="0" y="0"/>
            <a:ext cx="9144000" cy="838200"/>
          </a:xfrm>
          <a:prstGeom prst="rect">
            <a:avLst/>
          </a:prstGeom>
          <a:solidFill>
            <a:srgbClr val="FF33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6" name="Google Shape;16;p1"/>
          <p:cNvSpPr/>
          <p:nvPr/>
        </p:nvSpPr>
        <p:spPr>
          <a:xfrm rot="10800000" flipH="1">
            <a:off x="0" y="6705600"/>
            <a:ext cx="9144000" cy="198116"/>
          </a:xfrm>
          <a:prstGeom prst="rect">
            <a:avLst/>
          </a:prstGeom>
          <a:solidFill>
            <a:srgbClr val="FF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17" name="Google Shape;17;p1" descr="LOGO.gif"/>
          <p:cNvPicPr preferRelativeResize="0"/>
          <p:nvPr/>
        </p:nvPicPr>
        <p:blipFill rotWithShape="1">
          <a:blip r:embed="rId5">
            <a:alphaModFix/>
          </a:blip>
          <a:srcRect b="10713"/>
          <a:stretch/>
        </p:blipFill>
        <p:spPr>
          <a:xfrm>
            <a:off x="6553200" y="228600"/>
            <a:ext cx="2057400" cy="635000"/>
          </a:xfrm>
          <a:prstGeom prst="rect">
            <a:avLst/>
          </a:prstGeom>
          <a:noFill/>
          <a:ln>
            <a:noFill/>
          </a:ln>
        </p:spPr>
      </p:pic>
      <p:pic>
        <p:nvPicPr>
          <p:cNvPr id="18" name="Google Shape;18;p1" descr="LOGO.gif"/>
          <p:cNvPicPr preferRelativeResize="0"/>
          <p:nvPr/>
        </p:nvPicPr>
        <p:blipFill rotWithShape="1">
          <a:blip r:embed="rId5">
            <a:alphaModFix/>
          </a:blip>
          <a:srcRect b="10713"/>
          <a:stretch/>
        </p:blipFill>
        <p:spPr>
          <a:xfrm>
            <a:off x="6553200" y="228600"/>
            <a:ext cx="2057400" cy="635000"/>
          </a:xfrm>
          <a:prstGeom prst="rect">
            <a:avLst/>
          </a:prstGeom>
          <a:noFill/>
          <a:ln>
            <a:noFill/>
          </a:ln>
        </p:spPr>
      </p:pic>
      <p:grpSp>
        <p:nvGrpSpPr>
          <p:cNvPr id="19" name="Google Shape;19;p1"/>
          <p:cNvGrpSpPr/>
          <p:nvPr/>
        </p:nvGrpSpPr>
        <p:grpSpPr>
          <a:xfrm>
            <a:off x="6146800" y="0"/>
            <a:ext cx="2997200" cy="876300"/>
            <a:chOff x="6096000" y="3924300"/>
            <a:chExt cx="2997200" cy="876300"/>
          </a:xfrm>
        </p:grpSpPr>
        <p:sp>
          <p:nvSpPr>
            <p:cNvPr id="20" name="Google Shape;20;p1"/>
            <p:cNvSpPr/>
            <p:nvPr/>
          </p:nvSpPr>
          <p:spPr>
            <a:xfrm>
              <a:off x="6096000" y="3924300"/>
              <a:ext cx="2997200" cy="838200"/>
            </a:xfrm>
            <a:prstGeom prst="rect">
              <a:avLst/>
            </a:prstGeom>
            <a:solidFill>
              <a:srgbClr val="FF33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21" name="Google Shape;21;p1" descr="LOGO.gif"/>
            <p:cNvPicPr preferRelativeResize="0"/>
            <p:nvPr/>
          </p:nvPicPr>
          <p:blipFill rotWithShape="1">
            <a:blip r:embed="rId5">
              <a:alphaModFix/>
            </a:blip>
            <a:srcRect b="10713"/>
            <a:stretch/>
          </p:blipFill>
          <p:spPr>
            <a:xfrm>
              <a:off x="6502400" y="4152900"/>
              <a:ext cx="2057400" cy="635000"/>
            </a:xfrm>
            <a:prstGeom prst="rect">
              <a:avLst/>
            </a:prstGeom>
            <a:noFill/>
            <a:ln>
              <a:noFill/>
            </a:ln>
          </p:spPr>
        </p:pic>
        <p:sp>
          <p:nvSpPr>
            <p:cNvPr id="22" name="Google Shape;22;p1"/>
            <p:cNvSpPr/>
            <p:nvPr/>
          </p:nvSpPr>
          <p:spPr>
            <a:xfrm>
              <a:off x="6477000" y="4114800"/>
              <a:ext cx="2076450" cy="6858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pic>
        <p:nvPicPr>
          <p:cNvPr id="23" name="Google Shape;23;p1" descr="logo.jpg"/>
          <p:cNvPicPr preferRelativeResize="0"/>
          <p:nvPr/>
        </p:nvPicPr>
        <p:blipFill rotWithShape="1">
          <a:blip r:embed="rId6">
            <a:alphaModFix/>
          </a:blip>
          <a:srcRect/>
          <a:stretch/>
        </p:blipFill>
        <p:spPr>
          <a:xfrm>
            <a:off x="6553200" y="228600"/>
            <a:ext cx="1920875" cy="60960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6.jpg"/></Relationships>
</file>

<file path=ppt/slides/_rels/slide13.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8" Type="http://schemas.openxmlformats.org/officeDocument/2006/relationships/hyperlink" Target="https://nodemailer.com/" TargetMode="External"/><Relationship Id="rId13" Type="http://schemas.openxmlformats.org/officeDocument/2006/relationships/hyperlink" Target="https://webpack.js.org/concepts/" TargetMode="External"/><Relationship Id="rId3" Type="http://schemas.openxmlformats.org/officeDocument/2006/relationships/hyperlink" Target="https://www.mongodb.com/docs/" TargetMode="External"/><Relationship Id="rId7" Type="http://schemas.openxmlformats.org/officeDocument/2006/relationships/hyperlink" Target="https://redux.js.org/" TargetMode="External"/><Relationship Id="rId12" Type="http://schemas.openxmlformats.org/officeDocument/2006/relationships/hyperlink" Target="https://mongoosejs.com/docs/guide.html" TargetMode="External"/><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hyperlink" Target="https://nodejs.org/docs/latest/api/" TargetMode="External"/><Relationship Id="rId11" Type="http://schemas.openxmlformats.org/officeDocument/2006/relationships/hyperlink" Target="https://getbootstrap.com/docs/5.0/getting-started/introduction/" TargetMode="External"/><Relationship Id="rId5" Type="http://schemas.openxmlformats.org/officeDocument/2006/relationships/hyperlink" Target="https://legacy.reactjs.org/docs/getting-started.html" TargetMode="External"/><Relationship Id="rId10" Type="http://schemas.openxmlformats.org/officeDocument/2006/relationships/hyperlink" Target="https://redux.js.org/introduction/getting-started" TargetMode="External"/><Relationship Id="rId4" Type="http://schemas.openxmlformats.org/officeDocument/2006/relationships/hyperlink" Target="https://expressjs.com/" TargetMode="External"/><Relationship Id="rId9" Type="http://schemas.openxmlformats.org/officeDocument/2006/relationships/hyperlink" Target="https://www.youtube.com/" TargetMode="External"/><Relationship Id="rId14" Type="http://schemas.openxmlformats.org/officeDocument/2006/relationships/hyperlink" Target="https://learning.postman.com/docs/getting-started/introduction/" TargetMode="External"/></Relationships>
</file>

<file path=ppt/slides/_rels/slide20.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a:t>
            </a:fld>
            <a:endParaRPr/>
          </a:p>
        </p:txBody>
      </p:sp>
      <p:sp>
        <p:nvSpPr>
          <p:cNvPr id="51" name="Google Shape;51;p5"/>
          <p:cNvSpPr txBox="1"/>
          <p:nvPr/>
        </p:nvSpPr>
        <p:spPr>
          <a:xfrm>
            <a:off x="611560" y="1124744"/>
            <a:ext cx="7632900" cy="532449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IN" sz="1800" b="1" dirty="0">
                <a:solidFill>
                  <a:schemeClr val="dk1"/>
                </a:solidFill>
                <a:latin typeface="Times New Roman"/>
                <a:ea typeface="Times New Roman"/>
                <a:cs typeface="Times New Roman"/>
                <a:sym typeface="Times New Roman"/>
              </a:rPr>
              <a:t>COPYRIGHT</a:t>
            </a:r>
          </a:p>
          <a:p>
            <a:pPr marL="0" marR="0" lvl="0" indent="0" algn="ctr" rtl="0">
              <a:lnSpc>
                <a:spcPct val="100000"/>
              </a:lnSpc>
              <a:spcBef>
                <a:spcPts val="400"/>
              </a:spcBef>
              <a:spcAft>
                <a:spcPts val="0"/>
              </a:spcAft>
              <a:buNone/>
            </a:pPr>
            <a:r>
              <a:rPr lang="en-IN" sz="1800" dirty="0">
                <a:solidFill>
                  <a:schemeClr val="dk1"/>
                </a:solidFill>
                <a:latin typeface="Times New Roman"/>
                <a:ea typeface="Times New Roman"/>
                <a:cs typeface="Times New Roman"/>
                <a:sym typeface="Times New Roman"/>
              </a:rPr>
              <a:t>On</a:t>
            </a:r>
          </a:p>
          <a:p>
            <a:pPr marL="0" marR="0" lvl="0" indent="0" algn="ctr" rtl="0">
              <a:lnSpc>
                <a:spcPct val="100000"/>
              </a:lnSpc>
              <a:spcBef>
                <a:spcPts val="400"/>
              </a:spcBef>
              <a:spcAft>
                <a:spcPts val="0"/>
              </a:spcAft>
              <a:buNone/>
            </a:pPr>
            <a:r>
              <a:rPr lang="en-IN" sz="1800" dirty="0">
                <a:solidFill>
                  <a:schemeClr val="dk1"/>
                </a:solidFill>
                <a:latin typeface="Times New Roman"/>
                <a:cs typeface="Times New Roman"/>
                <a:sym typeface="Times New Roman"/>
              </a:rPr>
              <a:t>PROJECT</a:t>
            </a:r>
            <a:endParaRPr lang="en-IN" dirty="0"/>
          </a:p>
          <a:p>
            <a:pPr marL="0" marR="0" lvl="0" indent="0" algn="ctr" rtl="0">
              <a:lnSpc>
                <a:spcPct val="100000"/>
              </a:lnSpc>
              <a:spcBef>
                <a:spcPts val="400"/>
              </a:spcBef>
              <a:spcAft>
                <a:spcPts val="0"/>
              </a:spcAft>
              <a:buNone/>
            </a:pPr>
            <a:r>
              <a:rPr lang="en-IN" sz="4400" i="1" dirty="0">
                <a:solidFill>
                  <a:schemeClr val="dk1"/>
                </a:solidFill>
                <a:latin typeface="Times New Roman"/>
                <a:ea typeface="Times New Roman"/>
                <a:cs typeface="Times New Roman"/>
                <a:sym typeface="Times New Roman"/>
              </a:rPr>
              <a:t>Foodie</a:t>
            </a:r>
            <a:endParaRPr sz="1800" i="1" dirty="0">
              <a:solidFill>
                <a:schemeClr val="dk1"/>
              </a:solidFill>
              <a:latin typeface="Times New Roman"/>
              <a:ea typeface="Times New Roman"/>
              <a:cs typeface="Times New Roman"/>
              <a:sym typeface="Times New Roman"/>
            </a:endParaRPr>
          </a:p>
          <a:p>
            <a:pPr marL="0" marR="0" lvl="0" indent="0" algn="ctr" rtl="0">
              <a:lnSpc>
                <a:spcPct val="100000"/>
              </a:lnSpc>
              <a:spcBef>
                <a:spcPts val="400"/>
              </a:spcBef>
              <a:spcAft>
                <a:spcPts val="0"/>
              </a:spcAft>
              <a:buNone/>
            </a:pPr>
            <a:br>
              <a:rPr lang="en-IN" sz="1800" b="0" strike="noStrike" dirty="0">
                <a:solidFill>
                  <a:srgbClr val="000000"/>
                </a:solidFill>
                <a:latin typeface="Times New Roman"/>
                <a:ea typeface="Times New Roman"/>
                <a:cs typeface="Times New Roman"/>
                <a:sym typeface="Times New Roman"/>
              </a:rPr>
            </a:br>
            <a:r>
              <a:rPr lang="en-IN" sz="1800" b="0" strike="noStrike" dirty="0">
                <a:solidFill>
                  <a:srgbClr val="000000"/>
                </a:solidFill>
                <a:latin typeface="Times New Roman"/>
                <a:ea typeface="Times New Roman"/>
                <a:cs typeface="Times New Roman"/>
                <a:sym typeface="Times New Roman"/>
              </a:rPr>
              <a:t>Arushi Gupta</a:t>
            </a:r>
            <a:r>
              <a:rPr lang="en-IN" sz="1800" dirty="0">
                <a:solidFill>
                  <a:srgbClr val="000000"/>
                </a:solidFill>
                <a:latin typeface="Times New Roman"/>
                <a:ea typeface="Times New Roman"/>
                <a:cs typeface="Times New Roman"/>
                <a:sym typeface="Times New Roman"/>
              </a:rPr>
              <a:t> 2210991371</a:t>
            </a:r>
            <a:endParaRPr dirty="0"/>
          </a:p>
          <a:p>
            <a:pPr marL="0" marR="0" lvl="0" indent="0" algn="ctr" rtl="0">
              <a:lnSpc>
                <a:spcPct val="100000"/>
              </a:lnSpc>
              <a:spcBef>
                <a:spcPts val="400"/>
              </a:spcBef>
              <a:spcAft>
                <a:spcPts val="0"/>
              </a:spcAft>
              <a:buNone/>
            </a:pPr>
            <a:r>
              <a:rPr lang="en-IN" sz="1800" dirty="0" err="1">
                <a:solidFill>
                  <a:srgbClr val="000000"/>
                </a:solidFill>
                <a:latin typeface="Times New Roman"/>
                <a:ea typeface="Times New Roman"/>
                <a:cs typeface="Times New Roman"/>
                <a:sym typeface="Times New Roman"/>
              </a:rPr>
              <a:t>Harleen</a:t>
            </a:r>
            <a:r>
              <a:rPr lang="en-IN" sz="1800" dirty="0">
                <a:solidFill>
                  <a:srgbClr val="000000"/>
                </a:solidFill>
                <a:latin typeface="Times New Roman"/>
                <a:ea typeface="Times New Roman"/>
                <a:cs typeface="Times New Roman"/>
                <a:sym typeface="Times New Roman"/>
              </a:rPr>
              <a:t> Kaur 2210990365</a:t>
            </a:r>
            <a:endParaRPr dirty="0"/>
          </a:p>
          <a:p>
            <a:pPr marL="0" marR="0" lvl="0" indent="0" algn="ctr" rtl="0">
              <a:lnSpc>
                <a:spcPct val="100000"/>
              </a:lnSpc>
              <a:spcBef>
                <a:spcPts val="400"/>
              </a:spcBef>
              <a:spcAft>
                <a:spcPts val="0"/>
              </a:spcAft>
              <a:buNone/>
            </a:pPr>
            <a:r>
              <a:rPr lang="en-IN" sz="1800" dirty="0">
                <a:solidFill>
                  <a:srgbClr val="000000"/>
                </a:solidFill>
                <a:latin typeface="Times New Roman"/>
                <a:ea typeface="Times New Roman"/>
                <a:cs typeface="Times New Roman"/>
                <a:sym typeface="Times New Roman"/>
              </a:rPr>
              <a:t>Tanvi Thakur 2210990906</a:t>
            </a:r>
            <a:endParaRPr sz="1800" dirty="0">
              <a:solidFill>
                <a:srgbClr val="000000"/>
              </a:solidFill>
              <a:latin typeface="Times New Roman"/>
              <a:ea typeface="Times New Roman"/>
              <a:cs typeface="Times New Roman"/>
              <a:sym typeface="Times New Roman"/>
            </a:endParaRPr>
          </a:p>
          <a:p>
            <a:pPr marL="0" marR="0" lvl="0" indent="0" algn="ctr" rtl="0">
              <a:lnSpc>
                <a:spcPct val="100000"/>
              </a:lnSpc>
              <a:spcBef>
                <a:spcPts val="400"/>
              </a:spcBef>
              <a:spcAft>
                <a:spcPts val="0"/>
              </a:spcAft>
              <a:buNone/>
            </a:pPr>
            <a:r>
              <a:rPr lang="en-IN" sz="1800" dirty="0" err="1">
                <a:latin typeface="Times New Roman"/>
                <a:ea typeface="Times New Roman"/>
                <a:cs typeface="Times New Roman"/>
                <a:sym typeface="Times New Roman"/>
              </a:rPr>
              <a:t>Shivansh</a:t>
            </a:r>
            <a:r>
              <a:rPr lang="en-IN" sz="1800" dirty="0">
                <a:latin typeface="Times New Roman"/>
                <a:ea typeface="Times New Roman"/>
                <a:cs typeface="Times New Roman"/>
                <a:sym typeface="Times New Roman"/>
              </a:rPr>
              <a:t> Gupta 2210992322</a:t>
            </a:r>
            <a:endParaRPr sz="1800" dirty="0">
              <a:latin typeface="Times New Roman"/>
              <a:ea typeface="Times New Roman"/>
              <a:cs typeface="Times New Roman"/>
              <a:sym typeface="Times New Roman"/>
            </a:endParaRPr>
          </a:p>
          <a:p>
            <a:pPr marL="0" marR="0" lvl="0" indent="0" algn="ctr" rtl="0">
              <a:lnSpc>
                <a:spcPct val="100000"/>
              </a:lnSpc>
              <a:spcBef>
                <a:spcPts val="400"/>
              </a:spcBef>
              <a:spcAft>
                <a:spcPts val="0"/>
              </a:spcAft>
              <a:buNone/>
            </a:pPr>
            <a:endParaRPr sz="1800" b="0" strike="noStrike" dirty="0">
              <a:solidFill>
                <a:srgbClr val="000000"/>
              </a:solidFill>
              <a:latin typeface="Times New Roman"/>
              <a:ea typeface="Times New Roman"/>
              <a:cs typeface="Times New Roman"/>
              <a:sym typeface="Times New Roman"/>
            </a:endParaRPr>
          </a:p>
          <a:p>
            <a:pPr marL="0" marR="0" lvl="0" indent="0" algn="ctr" rtl="0">
              <a:lnSpc>
                <a:spcPct val="100000"/>
              </a:lnSpc>
              <a:spcBef>
                <a:spcPts val="400"/>
              </a:spcBef>
              <a:spcAft>
                <a:spcPts val="0"/>
              </a:spcAft>
              <a:buNone/>
            </a:pPr>
            <a:r>
              <a:rPr lang="en-IN" sz="1800" dirty="0">
                <a:solidFill>
                  <a:srgbClr val="000000"/>
                </a:solidFill>
                <a:latin typeface="Times New Roman"/>
                <a:ea typeface="Times New Roman"/>
                <a:cs typeface="Times New Roman"/>
                <a:sym typeface="Times New Roman"/>
              </a:rPr>
              <a:t>Supervised By</a:t>
            </a:r>
            <a:endParaRPr lang="en-IN" dirty="0">
              <a:ea typeface="Times New Roman"/>
            </a:endParaRPr>
          </a:p>
          <a:p>
            <a:pPr marL="0" marR="0" lvl="0" indent="0" algn="ctr" rtl="0">
              <a:lnSpc>
                <a:spcPct val="100000"/>
              </a:lnSpc>
              <a:spcBef>
                <a:spcPts val="400"/>
              </a:spcBef>
              <a:spcAft>
                <a:spcPts val="0"/>
              </a:spcAft>
              <a:buNone/>
            </a:pPr>
            <a:r>
              <a:rPr lang="en-IN" sz="1800" b="0" strike="noStrike" dirty="0" err="1">
                <a:solidFill>
                  <a:srgbClr val="000000"/>
                </a:solidFill>
                <a:latin typeface="Times New Roman"/>
                <a:ea typeface="Times New Roman"/>
                <a:cs typeface="Times New Roman"/>
                <a:sym typeface="Times New Roman"/>
              </a:rPr>
              <a:t>Dr.</a:t>
            </a:r>
            <a:r>
              <a:rPr lang="en-IN" sz="1800" b="0" strike="noStrike" dirty="0">
                <a:solidFill>
                  <a:srgbClr val="000000"/>
                </a:solidFill>
                <a:latin typeface="Times New Roman"/>
                <a:ea typeface="Times New Roman"/>
                <a:cs typeface="Times New Roman"/>
                <a:sym typeface="Times New Roman"/>
              </a:rPr>
              <a:t> Lalit K. Sharma </a:t>
            </a:r>
          </a:p>
          <a:p>
            <a:pPr marL="0" marR="0" lvl="0" indent="0" algn="ctr" rtl="0">
              <a:lnSpc>
                <a:spcPct val="100000"/>
              </a:lnSpc>
              <a:spcBef>
                <a:spcPts val="400"/>
              </a:spcBef>
              <a:spcAft>
                <a:spcPts val="0"/>
              </a:spcAft>
              <a:buNone/>
            </a:pPr>
            <a:r>
              <a:rPr lang="en-IN" sz="2000" dirty="0">
                <a:solidFill>
                  <a:schemeClr val="dk1"/>
                </a:solidFill>
                <a:latin typeface="Times New Roman"/>
                <a:ea typeface="Times New Roman"/>
                <a:cs typeface="Times New Roman"/>
                <a:sym typeface="Times New Roman"/>
              </a:rPr>
              <a:t>Department of </a:t>
            </a:r>
            <a:r>
              <a:rPr lang="en-IN" sz="2000" b="0" strike="noStrike" dirty="0">
                <a:solidFill>
                  <a:schemeClr val="dk1"/>
                </a:solidFill>
                <a:latin typeface="Times New Roman"/>
                <a:ea typeface="Times New Roman"/>
                <a:cs typeface="Times New Roman"/>
                <a:sym typeface="Times New Roman"/>
              </a:rPr>
              <a:t>Computer Science and Engineering, </a:t>
            </a:r>
            <a:endParaRPr dirty="0"/>
          </a:p>
          <a:p>
            <a:pPr marL="0" marR="0" lvl="0" indent="0" algn="ctr" rtl="0">
              <a:lnSpc>
                <a:spcPct val="100000"/>
              </a:lnSpc>
              <a:spcBef>
                <a:spcPts val="400"/>
              </a:spcBef>
              <a:spcAft>
                <a:spcPts val="0"/>
              </a:spcAft>
              <a:buNone/>
            </a:pPr>
            <a:r>
              <a:rPr lang="en-IN" sz="2000" b="0" strike="noStrike" dirty="0" err="1">
                <a:solidFill>
                  <a:schemeClr val="dk1"/>
                </a:solidFill>
                <a:latin typeface="Times New Roman"/>
                <a:ea typeface="Times New Roman"/>
                <a:cs typeface="Times New Roman"/>
                <a:sym typeface="Times New Roman"/>
              </a:rPr>
              <a:t>Chitkara</a:t>
            </a:r>
            <a:r>
              <a:rPr lang="en-IN" sz="2000" b="0" strike="noStrike" dirty="0">
                <a:solidFill>
                  <a:schemeClr val="dk1"/>
                </a:solidFill>
                <a:latin typeface="Times New Roman"/>
                <a:ea typeface="Times New Roman"/>
                <a:cs typeface="Times New Roman"/>
                <a:sym typeface="Times New Roman"/>
              </a:rPr>
              <a:t> University, Punjab</a:t>
            </a:r>
            <a:endParaRPr dirty="0"/>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spTree>
  </p:cSld>
  <p:clrMapOvr>
    <a:masterClrMapping/>
  </p:clrMapOvr>
  <p:transition>
    <p:fade thruBlk="1"/>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5"/>
        <p:cNvGrpSpPr/>
        <p:nvPr/>
      </p:nvGrpSpPr>
      <p:grpSpPr>
        <a:xfrm>
          <a:off x="0" y="0"/>
          <a:ext cx="0" cy="0"/>
          <a:chOff x="0" y="0"/>
          <a:chExt cx="0" cy="0"/>
        </a:xfrm>
      </p:grpSpPr>
      <p:sp>
        <p:nvSpPr>
          <p:cNvPr id="56" name="Google Shape;56;p6"/>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IN" b="1"/>
              <a:t>Abstract</a:t>
            </a:r>
            <a:endParaRPr/>
          </a:p>
        </p:txBody>
      </p:sp>
      <p:sp>
        <p:nvSpPr>
          <p:cNvPr id="57" name="Google Shape;57;p6"/>
          <p:cNvSpPr txBox="1">
            <a:spLocks noGrp="1"/>
          </p:cNvSpPr>
          <p:nvPr>
            <p:ph type="body" idx="1"/>
          </p:nvPr>
        </p:nvSpPr>
        <p:spPr>
          <a:xfrm>
            <a:off x="457200" y="1371600"/>
            <a:ext cx="8229600" cy="5153744"/>
          </a:xfrm>
          <a:prstGeom prst="rect">
            <a:avLst/>
          </a:prstGeom>
          <a:noFill/>
          <a:ln>
            <a:noFill/>
          </a:ln>
        </p:spPr>
        <p:txBody>
          <a:bodyPr spcFirstLastPara="1" wrap="square" lIns="91425" tIns="45700" rIns="91425" bIns="45700" anchor="t" anchorCtr="0">
            <a:noAutofit/>
          </a:bodyPr>
          <a:lstStyle/>
          <a:p>
            <a:pPr marL="342900" lvl="0" indent="-393700" algn="just" rtl="0">
              <a:spcBef>
                <a:spcPts val="0"/>
              </a:spcBef>
              <a:spcAft>
                <a:spcPts val="0"/>
              </a:spcAft>
              <a:buClr>
                <a:srgbClr val="0D0D0D"/>
              </a:buClr>
              <a:buSzPts val="2800"/>
              <a:buFont typeface="Times New Roman"/>
              <a:buChar char="•"/>
            </a:pPr>
            <a:r>
              <a:rPr lang="en-IN" sz="2000">
                <a:highlight>
                  <a:srgbClr val="FFFFFF"/>
                </a:highlight>
              </a:rPr>
              <a:t>Foodie was developed to resolve some of the current issues in food ordering and delivery services. This integrated various restaurant operations into a single coherent platform, where order management was included, along with delivery tracking, payment processing, and customer feedback. In this regard, Foodie represents an automated environment that enhances operational efficiency, reduces errors, and improves customer experiences.</a:t>
            </a:r>
            <a:endParaRPr sz="3000"/>
          </a:p>
          <a:p>
            <a:pPr marL="342900" lvl="0" indent="-342900" algn="just" rtl="0">
              <a:spcBef>
                <a:spcPts val="400"/>
              </a:spcBef>
              <a:spcAft>
                <a:spcPts val="0"/>
              </a:spcAft>
              <a:buClr>
                <a:srgbClr val="0D0D0D"/>
              </a:buClr>
              <a:buSzPts val="2000"/>
              <a:buFont typeface="Times New Roman"/>
              <a:buChar char="•"/>
            </a:pPr>
            <a:r>
              <a:rPr lang="en-IN" sz="2000">
                <a:highlight>
                  <a:srgbClr val="FFFFFF"/>
                </a:highlight>
              </a:rPr>
              <a:t>Foodie, built on the MERN stack, provides scalability, security, and ease of use to satisfy the variable needs of restaurants and customers alike.</a:t>
            </a:r>
            <a:endParaRPr sz="2000"/>
          </a:p>
          <a:p>
            <a:pPr marL="342900" lvl="0" indent="-342900" algn="just" rtl="0">
              <a:spcBef>
                <a:spcPts val="400"/>
              </a:spcBef>
              <a:spcAft>
                <a:spcPts val="0"/>
              </a:spcAft>
              <a:buClr>
                <a:srgbClr val="0D0D0D"/>
              </a:buClr>
              <a:buSzPts val="2000"/>
              <a:buFont typeface="Times New Roman"/>
              <a:buChar char="•"/>
            </a:pPr>
            <a:r>
              <a:rPr lang="en-IN" sz="2000">
                <a:highlight>
                  <a:srgbClr val="FFFFFF"/>
                </a:highlight>
              </a:rPr>
              <a:t>Moreover, it allows real-time tracking of orders and offers customized food recommendations to the users for timely and precise information that adds value to their dining experience. The modular architecture of the platform ensures flexibility in features that restaurants can adjust according to their unique needs.</a:t>
            </a:r>
            <a:endParaRPr sz="2000" i="0">
              <a:solidFill>
                <a:srgbClr val="0D0D0D"/>
              </a:solidFill>
              <a:highlight>
                <a:srgbClr val="FFFFFF"/>
              </a:highlight>
            </a:endParaRPr>
          </a:p>
        </p:txBody>
      </p:sp>
      <p:sp>
        <p:nvSpPr>
          <p:cNvPr id="58" name="Google Shape;58;p6"/>
          <p:cNvSpPr txBox="1">
            <a:spLocks noGrp="1"/>
          </p:cNvSpPr>
          <p:nvPr>
            <p:ph type="sldNum" idx="12"/>
          </p:nvPr>
        </p:nvSpPr>
        <p:spPr>
          <a:xfrm>
            <a:off x="6553200" y="6376243"/>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2</a:t>
            </a:fld>
            <a:endParaRPr/>
          </a:p>
        </p:txBody>
      </p:sp>
    </p:spTree>
  </p:cSld>
  <p:clrMapOvr>
    <a:masterClrMapping/>
  </p:clrMapOvr>
  <p:transition>
    <p:fade thruBlk="1"/>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7"/>
          <p:cNvSpPr txBox="1"/>
          <p:nvPr/>
        </p:nvSpPr>
        <p:spPr>
          <a:xfrm>
            <a:off x="467544" y="260648"/>
            <a:ext cx="5400600"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3200" b="1">
                <a:solidFill>
                  <a:schemeClr val="dk1"/>
                </a:solidFill>
                <a:latin typeface="Times New Roman"/>
                <a:ea typeface="Times New Roman"/>
                <a:cs typeface="Times New Roman"/>
                <a:sym typeface="Times New Roman"/>
              </a:rPr>
              <a:t>TABLE OF CONTENTS</a:t>
            </a:r>
            <a:endParaRPr sz="1800" b="1">
              <a:solidFill>
                <a:schemeClr val="dk1"/>
              </a:solidFill>
              <a:latin typeface="Times New Roman"/>
              <a:ea typeface="Times New Roman"/>
              <a:cs typeface="Times New Roman"/>
              <a:sym typeface="Times New Roman"/>
            </a:endParaRPr>
          </a:p>
        </p:txBody>
      </p:sp>
      <p:sp>
        <p:nvSpPr>
          <p:cNvPr id="64" name="Google Shape;64;p7"/>
          <p:cNvSpPr txBox="1"/>
          <p:nvPr/>
        </p:nvSpPr>
        <p:spPr>
          <a:xfrm>
            <a:off x="611560" y="1117188"/>
            <a:ext cx="6912900" cy="4402200"/>
          </a:xfrm>
          <a:prstGeom prst="rect">
            <a:avLst/>
          </a:prstGeom>
          <a:noFill/>
          <a:ln>
            <a:noFill/>
          </a:ln>
        </p:spPr>
        <p:txBody>
          <a:bodyPr spcFirstLastPara="1" wrap="square" lIns="91425" tIns="45700" rIns="91425" bIns="45700" anchor="t" anchorCtr="0">
            <a:spAutoFit/>
          </a:bodyPr>
          <a:lstStyle/>
          <a:p>
            <a:pPr marL="0" marR="0" lvl="0" indent="-177800" algn="l" rtl="0">
              <a:spcBef>
                <a:spcPts val="0"/>
              </a:spcBef>
              <a:spcAft>
                <a:spcPts val="0"/>
              </a:spcAft>
              <a:buClr>
                <a:schemeClr val="dk1"/>
              </a:buClr>
              <a:buSzPts val="2800"/>
              <a:buFont typeface="Arial"/>
              <a:buChar char="•"/>
            </a:pPr>
            <a:r>
              <a:rPr lang="en-IN" sz="2800">
                <a:solidFill>
                  <a:schemeClr val="dk1"/>
                </a:solidFill>
                <a:latin typeface="Times New Roman"/>
                <a:ea typeface="Times New Roman"/>
                <a:cs typeface="Times New Roman"/>
                <a:sym typeface="Times New Roman"/>
              </a:rPr>
              <a:t>Introduction</a:t>
            </a:r>
            <a:endParaRPr/>
          </a:p>
          <a:p>
            <a:pPr marL="0" marR="0" lvl="0" indent="-177800" algn="l" rtl="0">
              <a:spcBef>
                <a:spcPts val="0"/>
              </a:spcBef>
              <a:spcAft>
                <a:spcPts val="0"/>
              </a:spcAft>
              <a:buClr>
                <a:schemeClr val="dk1"/>
              </a:buClr>
              <a:buSzPts val="2800"/>
              <a:buFont typeface="Arial"/>
              <a:buChar char="•"/>
            </a:pPr>
            <a:r>
              <a:rPr lang="en-IN" sz="2800">
                <a:solidFill>
                  <a:schemeClr val="dk1"/>
                </a:solidFill>
                <a:latin typeface="Times New Roman"/>
                <a:ea typeface="Times New Roman"/>
                <a:cs typeface="Times New Roman"/>
                <a:sym typeface="Times New Roman"/>
              </a:rPr>
              <a:t>Problem Statement</a:t>
            </a:r>
            <a:endParaRPr/>
          </a:p>
          <a:p>
            <a:pPr marL="0" marR="0" lvl="0" indent="-177800" algn="l" rtl="0">
              <a:spcBef>
                <a:spcPts val="0"/>
              </a:spcBef>
              <a:spcAft>
                <a:spcPts val="0"/>
              </a:spcAft>
              <a:buClr>
                <a:schemeClr val="dk1"/>
              </a:buClr>
              <a:buSzPts val="2800"/>
              <a:buFont typeface="Arial"/>
              <a:buChar char="•"/>
            </a:pPr>
            <a:r>
              <a:rPr lang="en-IN" sz="2800">
                <a:solidFill>
                  <a:schemeClr val="dk1"/>
                </a:solidFill>
                <a:latin typeface="Times New Roman"/>
                <a:ea typeface="Times New Roman"/>
                <a:cs typeface="Times New Roman"/>
                <a:sym typeface="Times New Roman"/>
              </a:rPr>
              <a:t>Technical Details</a:t>
            </a:r>
            <a:endParaRPr/>
          </a:p>
          <a:p>
            <a:pPr marL="0" marR="0" lvl="0" indent="-177800" algn="l" rtl="0">
              <a:spcBef>
                <a:spcPts val="0"/>
              </a:spcBef>
              <a:spcAft>
                <a:spcPts val="0"/>
              </a:spcAft>
              <a:buClr>
                <a:schemeClr val="dk1"/>
              </a:buClr>
              <a:buSzPts val="2800"/>
              <a:buFont typeface="Arial"/>
              <a:buChar char="•"/>
            </a:pPr>
            <a:r>
              <a:rPr lang="en-IN" sz="2800">
                <a:solidFill>
                  <a:schemeClr val="dk1"/>
                </a:solidFill>
                <a:latin typeface="Times New Roman"/>
                <a:ea typeface="Times New Roman"/>
                <a:cs typeface="Times New Roman"/>
                <a:sym typeface="Times New Roman"/>
              </a:rPr>
              <a:t>Key Features </a:t>
            </a:r>
            <a:endParaRPr sz="2800">
              <a:solidFill>
                <a:schemeClr val="dk1"/>
              </a:solidFill>
              <a:latin typeface="Times New Roman"/>
              <a:ea typeface="Times New Roman"/>
              <a:cs typeface="Times New Roman"/>
              <a:sym typeface="Times New Roman"/>
            </a:endParaRPr>
          </a:p>
          <a:p>
            <a:pPr marL="0" marR="0" lvl="0" indent="-177800" algn="l" rtl="0">
              <a:spcBef>
                <a:spcPts val="0"/>
              </a:spcBef>
              <a:spcAft>
                <a:spcPts val="0"/>
              </a:spcAft>
              <a:buClr>
                <a:schemeClr val="dk1"/>
              </a:buClr>
              <a:buSzPts val="2800"/>
              <a:buFont typeface="Times New Roman"/>
              <a:buChar char="•"/>
            </a:pPr>
            <a:r>
              <a:rPr lang="en-IN" sz="2800">
                <a:solidFill>
                  <a:schemeClr val="dk1"/>
                </a:solidFill>
                <a:latin typeface="Times New Roman"/>
                <a:ea typeface="Times New Roman"/>
                <a:cs typeface="Times New Roman"/>
                <a:sym typeface="Times New Roman"/>
              </a:rPr>
              <a:t>Our Design</a:t>
            </a:r>
            <a:endParaRPr sz="2800">
              <a:solidFill>
                <a:schemeClr val="dk1"/>
              </a:solidFill>
              <a:latin typeface="Times New Roman"/>
              <a:ea typeface="Times New Roman"/>
              <a:cs typeface="Times New Roman"/>
              <a:sym typeface="Times New Roman"/>
            </a:endParaRPr>
          </a:p>
          <a:p>
            <a:pPr marL="0" marR="0" lvl="0" indent="-177800" algn="l" rtl="0">
              <a:spcBef>
                <a:spcPts val="0"/>
              </a:spcBef>
              <a:spcAft>
                <a:spcPts val="0"/>
              </a:spcAft>
              <a:buClr>
                <a:schemeClr val="dk1"/>
              </a:buClr>
              <a:buSzPts val="2800"/>
              <a:buFont typeface="Arial"/>
              <a:buChar char="•"/>
            </a:pPr>
            <a:r>
              <a:rPr lang="en-IN" sz="2800">
                <a:solidFill>
                  <a:schemeClr val="dk1"/>
                </a:solidFill>
                <a:latin typeface="Times New Roman"/>
                <a:ea typeface="Times New Roman"/>
                <a:cs typeface="Times New Roman"/>
                <a:sym typeface="Times New Roman"/>
              </a:rPr>
              <a:t>Future Scope</a:t>
            </a:r>
            <a:endParaRPr/>
          </a:p>
          <a:p>
            <a:pPr marL="0" marR="0" lvl="0" indent="-177800" algn="l" rtl="0">
              <a:spcBef>
                <a:spcPts val="0"/>
              </a:spcBef>
              <a:spcAft>
                <a:spcPts val="0"/>
              </a:spcAft>
              <a:buClr>
                <a:schemeClr val="dk1"/>
              </a:buClr>
              <a:buSzPts val="2800"/>
              <a:buFont typeface="Arial"/>
              <a:buChar char="•"/>
            </a:pPr>
            <a:r>
              <a:rPr lang="en-IN" sz="2800">
                <a:solidFill>
                  <a:schemeClr val="dk1"/>
                </a:solidFill>
                <a:latin typeface="Times New Roman"/>
                <a:ea typeface="Times New Roman"/>
                <a:cs typeface="Times New Roman"/>
                <a:sym typeface="Times New Roman"/>
              </a:rPr>
              <a:t>Conclusion</a:t>
            </a:r>
            <a:endParaRPr/>
          </a:p>
          <a:p>
            <a:pPr marL="0" marR="0" lvl="0" indent="-177800" algn="l" rtl="0">
              <a:spcBef>
                <a:spcPts val="0"/>
              </a:spcBef>
              <a:spcAft>
                <a:spcPts val="0"/>
              </a:spcAft>
              <a:buClr>
                <a:schemeClr val="dk1"/>
              </a:buClr>
              <a:buSzPts val="2800"/>
              <a:buFont typeface="Arial"/>
              <a:buChar char="•"/>
            </a:pPr>
            <a:r>
              <a:rPr lang="en-IN" sz="2800">
                <a:solidFill>
                  <a:schemeClr val="dk1"/>
                </a:solidFill>
                <a:latin typeface="Times New Roman"/>
                <a:ea typeface="Times New Roman"/>
                <a:cs typeface="Times New Roman"/>
                <a:sym typeface="Times New Roman"/>
              </a:rPr>
              <a:t>References/Links used</a:t>
            </a:r>
            <a:endParaRPr/>
          </a:p>
          <a:p>
            <a:pPr marL="0" marR="0" lvl="0" indent="0" algn="l" rtl="0">
              <a:spcBef>
                <a:spcPts val="0"/>
              </a:spcBef>
              <a:spcAft>
                <a:spcPts val="0"/>
              </a:spcAft>
              <a:buClr>
                <a:schemeClr val="dk1"/>
              </a:buClr>
              <a:buSzPts val="2800"/>
              <a:buFont typeface="Arial"/>
              <a:buNone/>
            </a:pPr>
            <a:endParaRPr sz="2800">
              <a:solidFill>
                <a:schemeClr val="dk1"/>
              </a:solidFill>
              <a:latin typeface="Times New Roman"/>
              <a:ea typeface="Times New Roman"/>
              <a:cs typeface="Times New Roman"/>
              <a:sym typeface="Times New Roman"/>
            </a:endParaRPr>
          </a:p>
          <a:p>
            <a:pPr marL="0" marR="0" lvl="0" indent="0" algn="l" rtl="0">
              <a:spcBef>
                <a:spcPts val="0"/>
              </a:spcBef>
              <a:spcAft>
                <a:spcPts val="0"/>
              </a:spcAft>
              <a:buClr>
                <a:schemeClr val="dk1"/>
              </a:buClr>
              <a:buSzPts val="2800"/>
              <a:buFont typeface="Arial"/>
              <a:buNone/>
            </a:pPr>
            <a:endParaRPr sz="2800">
              <a:solidFill>
                <a:schemeClr val="dk1"/>
              </a:solidFill>
              <a:latin typeface="Times New Roman"/>
              <a:ea typeface="Times New Roman"/>
              <a:cs typeface="Times New Roman"/>
              <a:sym typeface="Times New Roman"/>
            </a:endParaRPr>
          </a:p>
        </p:txBody>
      </p:sp>
      <p:sp>
        <p:nvSpPr>
          <p:cNvPr id="65" name="Google Shape;65;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3</a:t>
            </a:fld>
            <a:endParaRPr/>
          </a:p>
        </p:txBody>
      </p:sp>
    </p:spTree>
  </p:cSld>
  <p:clrMapOvr>
    <a:masterClrMapping/>
  </p:clrMapOvr>
  <p:transition>
    <p:fade thruBlk="1"/>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9"/>
        <p:cNvGrpSpPr/>
        <p:nvPr/>
      </p:nvGrpSpPr>
      <p:grpSpPr>
        <a:xfrm>
          <a:off x="0" y="0"/>
          <a:ext cx="0" cy="0"/>
          <a:chOff x="0" y="0"/>
          <a:chExt cx="0" cy="0"/>
        </a:xfrm>
      </p:grpSpPr>
      <p:sp>
        <p:nvSpPr>
          <p:cNvPr id="70" name="Google Shape;70;p8"/>
          <p:cNvSpPr txBox="1"/>
          <p:nvPr/>
        </p:nvSpPr>
        <p:spPr>
          <a:xfrm>
            <a:off x="467544" y="260648"/>
            <a:ext cx="5400600"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3200" b="1">
                <a:solidFill>
                  <a:schemeClr val="dk1"/>
                </a:solidFill>
                <a:latin typeface="Times New Roman"/>
                <a:ea typeface="Times New Roman"/>
                <a:cs typeface="Times New Roman"/>
                <a:sym typeface="Times New Roman"/>
              </a:rPr>
              <a:t>INTRODUCTION</a:t>
            </a:r>
            <a:endParaRPr/>
          </a:p>
        </p:txBody>
      </p:sp>
      <p:sp>
        <p:nvSpPr>
          <p:cNvPr id="71" name="Google Shape;71;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4</a:t>
            </a:fld>
            <a:endParaRPr/>
          </a:p>
        </p:txBody>
      </p:sp>
      <p:sp>
        <p:nvSpPr>
          <p:cNvPr id="72" name="Google Shape;72;p8"/>
          <p:cNvSpPr txBox="1"/>
          <p:nvPr/>
        </p:nvSpPr>
        <p:spPr>
          <a:xfrm>
            <a:off x="395562" y="920105"/>
            <a:ext cx="8352900" cy="5017800"/>
          </a:xfrm>
          <a:prstGeom prst="rect">
            <a:avLst/>
          </a:prstGeom>
          <a:noFill/>
          <a:ln>
            <a:noFill/>
          </a:ln>
        </p:spPr>
        <p:txBody>
          <a:bodyPr spcFirstLastPara="1" wrap="square" lIns="91425" tIns="45700" rIns="91425" bIns="45700" anchor="t" anchorCtr="0">
            <a:spAutoFit/>
          </a:bodyPr>
          <a:lstStyle/>
          <a:p>
            <a:pPr marL="342900" marR="0" lvl="0" indent="-215900" algn="l" rtl="0">
              <a:spcBef>
                <a:spcPts val="0"/>
              </a:spcBef>
              <a:spcAft>
                <a:spcPts val="0"/>
              </a:spcAft>
              <a:buClr>
                <a:schemeClr val="dk1"/>
              </a:buClr>
              <a:buSzPts val="2000"/>
              <a:buFont typeface="Arial"/>
              <a:buNone/>
            </a:pPr>
            <a:endParaRPr sz="2000">
              <a:solidFill>
                <a:schemeClr val="dk1"/>
              </a:solidFill>
              <a:latin typeface="Times New Roman"/>
              <a:ea typeface="Times New Roman"/>
              <a:cs typeface="Times New Roman"/>
              <a:sym typeface="Times New Roman"/>
            </a:endParaRPr>
          </a:p>
          <a:p>
            <a:pPr marL="457200" lvl="0" indent="-355600" algn="l" rtl="0">
              <a:spcBef>
                <a:spcPts val="0"/>
              </a:spcBef>
              <a:spcAft>
                <a:spcPts val="0"/>
              </a:spcAft>
              <a:buClr>
                <a:schemeClr val="dk1"/>
              </a:buClr>
              <a:buSzPts val="2000"/>
              <a:buFont typeface="Times New Roman"/>
              <a:buChar char="•"/>
            </a:pPr>
            <a:r>
              <a:rPr lang="en-IN" sz="2000">
                <a:solidFill>
                  <a:schemeClr val="dk1"/>
                </a:solidFill>
                <a:highlight>
                  <a:srgbClr val="FFFFFF"/>
                </a:highlight>
                <a:latin typeface="Times New Roman"/>
                <a:ea typeface="Times New Roman"/>
                <a:cs typeface="Times New Roman"/>
                <a:sym typeface="Times New Roman"/>
              </a:rPr>
              <a:t>Foodie is an all-in-one software solution for effective management of operations involved in food ordering and delivery. This platform simplifies the entire process, from order placement and delivery to payment processing, thus ensuring that the overall experience is hassle-free for both the customer and the restaurant operator.</a:t>
            </a:r>
            <a:endParaRPr sz="2000">
              <a:solidFill>
                <a:schemeClr val="dk1"/>
              </a:solidFill>
              <a:latin typeface="Times New Roman"/>
              <a:ea typeface="Times New Roman"/>
              <a:cs typeface="Times New Roman"/>
              <a:sym typeface="Times New Roman"/>
            </a:endParaRPr>
          </a:p>
          <a:p>
            <a:pPr marL="457200" lvl="0" indent="-355600" algn="l" rtl="0">
              <a:spcBef>
                <a:spcPts val="0"/>
              </a:spcBef>
              <a:spcAft>
                <a:spcPts val="0"/>
              </a:spcAft>
              <a:buClr>
                <a:schemeClr val="dk1"/>
              </a:buClr>
              <a:buSzPts val="2000"/>
              <a:buFont typeface="Times New Roman"/>
              <a:buChar char="•"/>
            </a:pPr>
            <a:r>
              <a:rPr lang="en-IN" sz="2000">
                <a:solidFill>
                  <a:schemeClr val="dk1"/>
                </a:solidFill>
                <a:highlight>
                  <a:srgbClr val="FFFFFF"/>
                </a:highlight>
                <a:latin typeface="Times New Roman"/>
                <a:ea typeface="Times New Roman"/>
                <a:cs typeface="Times New Roman"/>
                <a:sym typeface="Times New Roman"/>
              </a:rPr>
              <a:t>By digitizing and automating these processes, Foodie is looking at improving the overall efficiency and quality of all food service operations so that restaurants can accelerate their service and improve customer satisfaction.</a:t>
            </a:r>
            <a:endParaRPr sz="2000">
              <a:solidFill>
                <a:schemeClr val="dk1"/>
              </a:solidFill>
              <a:highlight>
                <a:srgbClr val="FFFFFF"/>
              </a:highlight>
              <a:latin typeface="Times New Roman"/>
              <a:ea typeface="Times New Roman"/>
              <a:cs typeface="Times New Roman"/>
              <a:sym typeface="Times New Roman"/>
            </a:endParaRPr>
          </a:p>
          <a:p>
            <a:pPr marL="457200" lvl="0" indent="-355600" algn="l" rtl="0">
              <a:spcBef>
                <a:spcPts val="0"/>
              </a:spcBef>
              <a:spcAft>
                <a:spcPts val="0"/>
              </a:spcAft>
              <a:buClr>
                <a:schemeClr val="dk1"/>
              </a:buClr>
              <a:buSzPts val="2000"/>
              <a:buFont typeface="Times New Roman"/>
              <a:buChar char="•"/>
            </a:pPr>
            <a:r>
              <a:rPr lang="en-IN" sz="2000">
                <a:solidFill>
                  <a:schemeClr val="dk1"/>
                </a:solidFill>
                <a:highlight>
                  <a:srgbClr val="FFFFFF"/>
                </a:highlight>
                <a:latin typeface="Times New Roman"/>
                <a:ea typeface="Times New Roman"/>
                <a:cs typeface="Times New Roman"/>
                <a:sym typeface="Times New Roman"/>
              </a:rPr>
              <a:t>It offers a wide range of features that includes easy order management, real-time order tracking, secured payment processing, delivery route optimization, and even integration of customer feedback.</a:t>
            </a:r>
            <a:endParaRPr sz="2000">
              <a:solidFill>
                <a:schemeClr val="dk1"/>
              </a:solidFill>
              <a:latin typeface="Times New Roman"/>
              <a:ea typeface="Times New Roman"/>
              <a:cs typeface="Times New Roman"/>
              <a:sym typeface="Times New Roman"/>
            </a:endParaRPr>
          </a:p>
          <a:p>
            <a:pPr marL="457200" lvl="0" indent="-355600" algn="l" rtl="0">
              <a:spcBef>
                <a:spcPts val="0"/>
              </a:spcBef>
              <a:spcAft>
                <a:spcPts val="0"/>
              </a:spcAft>
              <a:buClr>
                <a:schemeClr val="dk1"/>
              </a:buClr>
              <a:buSzPts val="2000"/>
              <a:buFont typeface="Times New Roman"/>
              <a:buChar char="•"/>
            </a:pPr>
            <a:r>
              <a:rPr lang="en-IN" sz="2000">
                <a:solidFill>
                  <a:schemeClr val="dk1"/>
                </a:solidFill>
                <a:highlight>
                  <a:srgbClr val="FFFFFF"/>
                </a:highlight>
                <a:latin typeface="Times New Roman"/>
                <a:ea typeface="Times New Roman"/>
                <a:cs typeface="Times New Roman"/>
                <a:sym typeface="Times New Roman"/>
              </a:rPr>
              <a:t>This is engineered with scalability in mind, making the system suit any size of restaurant operations, be it small local restaurants or big chain franchises.</a:t>
            </a:r>
            <a:endParaRPr sz="2000">
              <a:solidFill>
                <a:schemeClr val="dk1"/>
              </a:solidFill>
              <a:latin typeface="Times New Roman"/>
              <a:ea typeface="Times New Roman"/>
              <a:cs typeface="Times New Roman"/>
              <a:sym typeface="Times New Roman"/>
            </a:endParaRPr>
          </a:p>
        </p:txBody>
      </p:sp>
    </p:spTree>
  </p:cSld>
  <p:clrMapOvr>
    <a:masterClrMapping/>
  </p:clrMapOvr>
  <p:transition>
    <p:fade thruBlk="1"/>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77" name="Google Shape;77;p9"/>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IN" b="1"/>
              <a:t>Introduction</a:t>
            </a:r>
            <a:endParaRPr/>
          </a:p>
        </p:txBody>
      </p:sp>
      <p:sp>
        <p:nvSpPr>
          <p:cNvPr id="78" name="Google Shape;78;p9"/>
          <p:cNvSpPr txBox="1">
            <a:spLocks noGrp="1"/>
          </p:cNvSpPr>
          <p:nvPr>
            <p:ph type="body" idx="1"/>
          </p:nvPr>
        </p:nvSpPr>
        <p:spPr>
          <a:xfrm>
            <a:off x="179513" y="3785078"/>
            <a:ext cx="8229600" cy="3420300"/>
          </a:xfrm>
          <a:prstGeom prst="rect">
            <a:avLst/>
          </a:prstGeom>
          <a:noFill/>
          <a:ln>
            <a:noFill/>
          </a:ln>
        </p:spPr>
        <p:txBody>
          <a:bodyPr spcFirstLastPara="1" wrap="square" lIns="91425" tIns="45700" rIns="91425" bIns="45700" anchor="t" anchorCtr="0">
            <a:noAutofit/>
          </a:bodyPr>
          <a:lstStyle/>
          <a:p>
            <a:pPr marL="457200" lvl="0" indent="-355600" algn="just" rtl="0">
              <a:spcBef>
                <a:spcPts val="400"/>
              </a:spcBef>
              <a:spcAft>
                <a:spcPts val="0"/>
              </a:spcAft>
              <a:buSzPts val="2000"/>
              <a:buAutoNum type="arabicPeriod"/>
            </a:pPr>
            <a:r>
              <a:rPr lang="en-IN" sz="2000" b="1">
                <a:highlight>
                  <a:srgbClr val="FFFFFF"/>
                </a:highlight>
              </a:rPr>
              <a:t>Simplifying restaurant operations:</a:t>
            </a:r>
            <a:r>
              <a:rPr lang="en-IN" sz="2000">
                <a:highlight>
                  <a:srgbClr val="FFFFFF"/>
                </a:highlight>
              </a:rPr>
              <a:t> Foodie eases operational burdens by reducing manual labor, cutting the chance for human error, and streamlining key functions such as order taking, payment, and delivery tracking.</a:t>
            </a:r>
            <a:endParaRPr sz="2000">
              <a:highlight>
                <a:srgbClr val="FFFFFF"/>
              </a:highlight>
            </a:endParaRPr>
          </a:p>
          <a:p>
            <a:pPr marL="457200" lvl="0" indent="-355600" algn="just" rtl="0">
              <a:spcBef>
                <a:spcPts val="0"/>
              </a:spcBef>
              <a:spcAft>
                <a:spcPts val="0"/>
              </a:spcAft>
              <a:buSzPts val="2000"/>
              <a:buAutoNum type="arabicPeriod"/>
            </a:pPr>
            <a:r>
              <a:rPr lang="en-IN" sz="2000" b="1">
                <a:highlight>
                  <a:srgbClr val="FFFFFF"/>
                </a:highlight>
              </a:rPr>
              <a:t>Customer Experience Improvement:</a:t>
            </a:r>
            <a:r>
              <a:rPr lang="en-IN" sz="2000">
                <a:highlight>
                  <a:srgbClr val="FFFFFF"/>
                </a:highlight>
              </a:rPr>
              <a:t> Foodie ensures customers get timely, safe, and accurate service to offer them personalized food recommendations with real-time tracking of orders. These technologies improve communication between restaurant staff and delivery teams to facilitate better customer satisfaction and improvement in performance.</a:t>
            </a:r>
            <a:endParaRPr sz="2000"/>
          </a:p>
        </p:txBody>
      </p:sp>
      <p:sp>
        <p:nvSpPr>
          <p:cNvPr id="79" name="Google Shape;79;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5</a:t>
            </a:fld>
            <a:endParaRPr/>
          </a:p>
        </p:txBody>
      </p:sp>
      <p:sp>
        <p:nvSpPr>
          <p:cNvPr id="80" name="Google Shape;80;p9"/>
          <p:cNvSpPr/>
          <p:nvPr/>
        </p:nvSpPr>
        <p:spPr>
          <a:xfrm>
            <a:off x="179513" y="1018980"/>
            <a:ext cx="8964488" cy="2585323"/>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Times New Roman"/>
              <a:buNone/>
            </a:pPr>
            <a:r>
              <a:rPr lang="en-IN" sz="2000" b="1" i="0" u="none" strike="noStrike" cap="none">
                <a:solidFill>
                  <a:schemeClr val="dk1"/>
                </a:solidFill>
                <a:latin typeface="Times New Roman"/>
                <a:ea typeface="Times New Roman"/>
                <a:cs typeface="Times New Roman"/>
                <a:sym typeface="Times New Roman"/>
              </a:rPr>
              <a:t>Objective</a:t>
            </a:r>
            <a:endParaRPr sz="1600"/>
          </a:p>
          <a:p>
            <a:pPr marL="0" marR="0" lvl="0" indent="0" algn="l" rtl="0">
              <a:lnSpc>
                <a:spcPct val="100000"/>
              </a:lnSpc>
              <a:spcBef>
                <a:spcPts val="0"/>
              </a:spcBef>
              <a:spcAft>
                <a:spcPts val="0"/>
              </a:spcAft>
              <a:buClr>
                <a:schemeClr val="dk1"/>
              </a:buClr>
              <a:buSzPts val="1800"/>
              <a:buFont typeface="Calibri"/>
              <a:buNone/>
            </a:pPr>
            <a:endParaRPr sz="1800">
              <a:solidFill>
                <a:schemeClr val="dk1"/>
              </a:solidFill>
              <a:latin typeface="Arial"/>
              <a:ea typeface="Arial"/>
              <a:cs typeface="Arial"/>
              <a:sym typeface="Arial"/>
            </a:endParaRPr>
          </a:p>
          <a:p>
            <a:pPr marL="0" lvl="0" indent="0" algn="l" rtl="0">
              <a:spcBef>
                <a:spcPts val="0"/>
              </a:spcBef>
              <a:spcAft>
                <a:spcPts val="0"/>
              </a:spcAft>
              <a:buClr>
                <a:schemeClr val="dk1"/>
              </a:buClr>
              <a:buSzPts val="1100"/>
              <a:buFont typeface="Arial"/>
              <a:buNone/>
            </a:pPr>
            <a:r>
              <a:rPr lang="en-IN" sz="1800">
                <a:solidFill>
                  <a:schemeClr val="dk1"/>
                </a:solidFill>
                <a:highlight>
                  <a:srgbClr val="FFFFFF"/>
                </a:highlight>
                <a:latin typeface="Times New Roman"/>
                <a:ea typeface="Times New Roman"/>
                <a:cs typeface="Times New Roman"/>
                <a:sym typeface="Times New Roman"/>
              </a:rPr>
              <a:t>Foodie is aimed at improving the service quality and efficiency of food ordering and delivering by providing a holistic platform for restaurant management.</a:t>
            </a:r>
            <a:endParaRPr sz="1800">
              <a:solidFill>
                <a:schemeClr val="dk1"/>
              </a:solidFill>
              <a:highlight>
                <a:srgbClr val="FFFFFF"/>
              </a:highlight>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800"/>
              <a:buFont typeface="Times New Roman"/>
              <a:buNone/>
            </a:pPr>
            <a:r>
              <a:rPr lang="en-IN" sz="1800">
                <a:solidFill>
                  <a:schemeClr val="dk1"/>
                </a:solidFill>
                <a:highlight>
                  <a:srgbClr val="FFFFFF"/>
                </a:highlight>
                <a:latin typeface="Times New Roman"/>
                <a:ea typeface="Times New Roman"/>
                <a:cs typeface="Times New Roman"/>
                <a:sym typeface="Times New Roman"/>
              </a:rPr>
              <a:t>With Foodie, manual tasks and errors will be minimized because of the streamlining of processes, from the place order through to payment processing and even the tracking of deliveries. In addition, the processes will contribute towards better customer satisfaction by ensuring timely, secure, and error-free order processing for proper decision-making and increased coordination between restaurants and delivery personnel.</a:t>
            </a:r>
            <a:endParaRPr sz="1800">
              <a:latin typeface="Times New Roman"/>
              <a:ea typeface="Times New Roman"/>
              <a:cs typeface="Times New Roman"/>
              <a:sym typeface="Times New Roman"/>
            </a:endParaRPr>
          </a:p>
        </p:txBody>
      </p:sp>
    </p:spTree>
  </p:cSld>
  <p:clrMapOvr>
    <a:masterClrMapping/>
  </p:clrMapOvr>
  <p:transition>
    <p:fade thruBlk="1"/>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1"/>
          <p:cNvSpPr txBox="1"/>
          <p:nvPr/>
        </p:nvSpPr>
        <p:spPr>
          <a:xfrm>
            <a:off x="467544" y="260648"/>
            <a:ext cx="5400600"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3200" b="1">
                <a:solidFill>
                  <a:schemeClr val="dk1"/>
                </a:solidFill>
                <a:latin typeface="Times New Roman"/>
                <a:ea typeface="Times New Roman"/>
                <a:cs typeface="Times New Roman"/>
                <a:sym typeface="Times New Roman"/>
              </a:rPr>
              <a:t>PROBLEM STATEMENT</a:t>
            </a:r>
            <a:endParaRPr/>
          </a:p>
        </p:txBody>
      </p:sp>
      <p:sp>
        <p:nvSpPr>
          <p:cNvPr id="93" name="Google Shape;93;p11"/>
          <p:cNvSpPr txBox="1"/>
          <p:nvPr/>
        </p:nvSpPr>
        <p:spPr>
          <a:xfrm>
            <a:off x="462300" y="976925"/>
            <a:ext cx="8219400" cy="5633700"/>
          </a:xfrm>
          <a:prstGeom prst="rect">
            <a:avLst/>
          </a:prstGeom>
          <a:noFill/>
          <a:ln>
            <a:noFill/>
          </a:ln>
        </p:spPr>
        <p:txBody>
          <a:bodyPr spcFirstLastPara="1" wrap="square" lIns="91425" tIns="45700" rIns="91425" bIns="45700" anchor="ctr" anchorCtr="0">
            <a:noAutofit/>
          </a:bodyPr>
          <a:lstStyle/>
          <a:p>
            <a:pPr marL="457200" lvl="0" indent="-355600" algn="l" rtl="0">
              <a:spcBef>
                <a:spcPts val="0"/>
              </a:spcBef>
              <a:spcAft>
                <a:spcPts val="0"/>
              </a:spcAft>
              <a:buClr>
                <a:schemeClr val="dk1"/>
              </a:buClr>
              <a:buSzPts val="2000"/>
              <a:buFont typeface="Times New Roman"/>
              <a:buChar char="●"/>
            </a:pPr>
            <a:r>
              <a:rPr lang="en-IN" sz="2000" b="1">
                <a:solidFill>
                  <a:schemeClr val="dk1"/>
                </a:solidFill>
                <a:highlight>
                  <a:srgbClr val="FFFFFF"/>
                </a:highlight>
                <a:latin typeface="Times New Roman"/>
                <a:ea typeface="Times New Roman"/>
                <a:cs typeface="Times New Roman"/>
                <a:sym typeface="Times New Roman"/>
              </a:rPr>
              <a:t>Operational Challenges: </a:t>
            </a:r>
            <a:r>
              <a:rPr lang="en-IN" sz="2000">
                <a:solidFill>
                  <a:schemeClr val="dk1"/>
                </a:solidFill>
                <a:highlight>
                  <a:srgbClr val="FFFFFF"/>
                </a:highlight>
                <a:latin typeface="Times New Roman"/>
                <a:ea typeface="Times New Roman"/>
                <a:cs typeface="Times New Roman"/>
                <a:sym typeface="Times New Roman"/>
              </a:rPr>
              <a:t>Managing tasks such as order processing, payment handling, and delivery logistics can be complex and time-consuming for restaurants, leading to operational inefficiencies.</a:t>
            </a:r>
            <a:endParaRPr sz="2000">
              <a:solidFill>
                <a:schemeClr val="dk1"/>
              </a:solidFill>
              <a:highlight>
                <a:srgbClr val="FFFFFF"/>
              </a:highlight>
              <a:latin typeface="Times New Roman"/>
              <a:ea typeface="Times New Roman"/>
              <a:cs typeface="Times New Roman"/>
              <a:sym typeface="Times New Roman"/>
            </a:endParaRPr>
          </a:p>
          <a:p>
            <a:pPr marL="457200" lvl="0" indent="-355600" algn="l" rtl="0">
              <a:spcBef>
                <a:spcPts val="0"/>
              </a:spcBef>
              <a:spcAft>
                <a:spcPts val="0"/>
              </a:spcAft>
              <a:buClr>
                <a:schemeClr val="dk1"/>
              </a:buClr>
              <a:buSzPts val="2000"/>
              <a:buFont typeface="Times New Roman"/>
              <a:buChar char="●"/>
            </a:pPr>
            <a:r>
              <a:rPr lang="en-IN" sz="2000" b="1">
                <a:solidFill>
                  <a:schemeClr val="dk1"/>
                </a:solidFill>
                <a:highlight>
                  <a:srgbClr val="FFFFFF"/>
                </a:highlight>
                <a:latin typeface="Times New Roman"/>
                <a:ea typeface="Times New Roman"/>
                <a:cs typeface="Times New Roman"/>
                <a:sym typeface="Times New Roman"/>
              </a:rPr>
              <a:t>Inefficient Systems: </a:t>
            </a:r>
            <a:r>
              <a:rPr lang="en-IN" sz="2000">
                <a:solidFill>
                  <a:schemeClr val="dk1"/>
                </a:solidFill>
                <a:highlight>
                  <a:srgbClr val="FFFFFF"/>
                </a:highlight>
                <a:latin typeface="Times New Roman"/>
                <a:ea typeface="Times New Roman"/>
                <a:cs typeface="Times New Roman"/>
                <a:sym typeface="Times New Roman"/>
              </a:rPr>
              <a:t>Many restaurants rely on outdated software or manual processes, resulting in inaccurate order tracking, slow service, and increased chances of errors. To provide timely and accurate service, there is a need for modernization.</a:t>
            </a:r>
            <a:endParaRPr sz="2000">
              <a:solidFill>
                <a:schemeClr val="dk1"/>
              </a:solidFill>
              <a:highlight>
                <a:srgbClr val="FFFFFF"/>
              </a:highlight>
              <a:latin typeface="Times New Roman"/>
              <a:ea typeface="Times New Roman"/>
              <a:cs typeface="Times New Roman"/>
              <a:sym typeface="Times New Roman"/>
            </a:endParaRPr>
          </a:p>
          <a:p>
            <a:pPr marL="457200" lvl="0" indent="-355600" algn="l" rtl="0">
              <a:spcBef>
                <a:spcPts val="0"/>
              </a:spcBef>
              <a:spcAft>
                <a:spcPts val="0"/>
              </a:spcAft>
              <a:buClr>
                <a:schemeClr val="dk1"/>
              </a:buClr>
              <a:buSzPts val="2000"/>
              <a:buFont typeface="Times New Roman"/>
              <a:buChar char="●"/>
            </a:pPr>
            <a:r>
              <a:rPr lang="en-IN" sz="2000" b="1">
                <a:solidFill>
                  <a:schemeClr val="dk1"/>
                </a:solidFill>
                <a:highlight>
                  <a:srgbClr val="FFFFFF"/>
                </a:highlight>
                <a:latin typeface="Times New Roman"/>
                <a:ea typeface="Times New Roman"/>
                <a:cs typeface="Times New Roman"/>
                <a:sym typeface="Times New Roman"/>
              </a:rPr>
              <a:t>Impact on Revenue and Customer Satisfaction: </a:t>
            </a:r>
            <a:r>
              <a:rPr lang="en-IN" sz="2000">
                <a:solidFill>
                  <a:schemeClr val="dk1"/>
                </a:solidFill>
                <a:highlight>
                  <a:srgbClr val="FFFFFF"/>
                </a:highlight>
                <a:latin typeface="Times New Roman"/>
                <a:ea typeface="Times New Roman"/>
                <a:cs typeface="Times New Roman"/>
                <a:sym typeface="Times New Roman"/>
              </a:rPr>
              <a:t>Inefficiencies in traditional systems can lead to delayed deliveries, incorrect orders, and increased operational costs, ultimately affecting customer satisfaction and revenue. These challenges can be addressed by an integrated platform that streamlines operations and improves customer experience.</a:t>
            </a:r>
            <a:endParaRPr sz="2000">
              <a:solidFill>
                <a:schemeClr val="dk1"/>
              </a:solidFill>
              <a:highlight>
                <a:srgbClr val="FFFFFF"/>
              </a:highlight>
              <a:latin typeface="Times New Roman"/>
              <a:ea typeface="Times New Roman"/>
              <a:cs typeface="Times New Roman"/>
              <a:sym typeface="Times New Roman"/>
            </a:endParaRPr>
          </a:p>
          <a:p>
            <a:pPr marL="457200" lvl="0" indent="-355600" algn="l" rtl="0">
              <a:spcBef>
                <a:spcPts val="0"/>
              </a:spcBef>
              <a:spcAft>
                <a:spcPts val="0"/>
              </a:spcAft>
              <a:buClr>
                <a:schemeClr val="dk1"/>
              </a:buClr>
              <a:buSzPts val="2000"/>
              <a:buFont typeface="Times New Roman"/>
              <a:buChar char="●"/>
            </a:pPr>
            <a:r>
              <a:rPr lang="en-IN" sz="2000" b="1">
                <a:solidFill>
                  <a:schemeClr val="dk1"/>
                </a:solidFill>
                <a:highlight>
                  <a:srgbClr val="FFFFFF"/>
                </a:highlight>
                <a:latin typeface="Times New Roman"/>
                <a:ea typeface="Times New Roman"/>
                <a:cs typeface="Times New Roman"/>
                <a:sym typeface="Times New Roman"/>
              </a:rPr>
              <a:t>Issues with Coordination and Communication: </a:t>
            </a:r>
            <a:r>
              <a:rPr lang="en-IN" sz="2000">
                <a:solidFill>
                  <a:schemeClr val="dk1"/>
                </a:solidFill>
                <a:highlight>
                  <a:srgbClr val="FFFFFF"/>
                </a:highlight>
                <a:latin typeface="Times New Roman"/>
                <a:ea typeface="Times New Roman"/>
                <a:cs typeface="Times New Roman"/>
                <a:sym typeface="Times New Roman"/>
              </a:rPr>
              <a:t>Lack of effective integration between order management, kitchen operations, and delivery services can hinder communication and coordination, leading to mistakes and delays. An integrated system will streamline workflows and improve communication across all departments.</a:t>
            </a:r>
            <a:endParaRPr sz="2000">
              <a:solidFill>
                <a:schemeClr val="dk1"/>
              </a:solidFill>
              <a:highlight>
                <a:srgbClr val="FFFFFF"/>
              </a:highlight>
              <a:latin typeface="Times New Roman"/>
              <a:ea typeface="Times New Roman"/>
              <a:cs typeface="Times New Roman"/>
              <a:sym typeface="Times New Roman"/>
            </a:endParaRPr>
          </a:p>
          <a:p>
            <a:pPr marL="0" marR="0" lvl="0" indent="0" algn="just" rtl="0">
              <a:spcBef>
                <a:spcPts val="0"/>
              </a:spcBef>
              <a:spcAft>
                <a:spcPts val="0"/>
              </a:spcAft>
              <a:buNone/>
            </a:pPr>
            <a:endParaRPr sz="2000">
              <a:solidFill>
                <a:schemeClr val="dk1"/>
              </a:solidFill>
              <a:highlight>
                <a:srgbClr val="FFFFFF"/>
              </a:highlight>
              <a:latin typeface="Times New Roman"/>
              <a:ea typeface="Times New Roman"/>
              <a:cs typeface="Times New Roman"/>
              <a:sym typeface="Times New Roman"/>
            </a:endParaRPr>
          </a:p>
        </p:txBody>
      </p:sp>
      <p:sp>
        <p:nvSpPr>
          <p:cNvPr id="94" name="Google Shape;94;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6</a:t>
            </a:fld>
            <a:endParaRPr/>
          </a:p>
        </p:txBody>
      </p:sp>
    </p:spTree>
  </p:cSld>
  <p:clrMapOvr>
    <a:masterClrMapping/>
  </p:clrMapOvr>
  <p:transition>
    <p:fade thruBlk="1"/>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10"/>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lvl="0" algn="just" rtl="0">
              <a:spcBef>
                <a:spcPts val="0"/>
              </a:spcBef>
              <a:spcAft>
                <a:spcPts val="0"/>
              </a:spcAft>
              <a:buClr>
                <a:schemeClr val="dk1"/>
              </a:buClr>
              <a:buSzPts val="2200"/>
            </a:pPr>
            <a:r>
              <a:rPr lang="en-IN" b="1" dirty="0"/>
              <a:t>Significance</a:t>
            </a:r>
            <a:endParaRPr lang="en-IN" dirty="0"/>
          </a:p>
        </p:txBody>
      </p:sp>
      <p:sp>
        <p:nvSpPr>
          <p:cNvPr id="86" name="Google Shape;86;p10"/>
          <p:cNvSpPr txBox="1">
            <a:spLocks noGrp="1"/>
          </p:cNvSpPr>
          <p:nvPr>
            <p:ph type="body" idx="1"/>
          </p:nvPr>
        </p:nvSpPr>
        <p:spPr>
          <a:xfrm>
            <a:off x="457200" y="1371600"/>
            <a:ext cx="8229600" cy="4525963"/>
          </a:xfrm>
          <a:prstGeom prst="rect">
            <a:avLst/>
          </a:prstGeom>
          <a:noFill/>
          <a:ln>
            <a:noFill/>
          </a:ln>
        </p:spPr>
        <p:txBody>
          <a:bodyPr spcFirstLastPara="1" wrap="square" lIns="91425" tIns="45700" rIns="91425" bIns="45700" anchor="t" anchorCtr="0">
            <a:noAutofit/>
          </a:bodyPr>
          <a:lstStyle/>
          <a:p>
            <a:pPr marL="0" lvl="0" indent="0" algn="just" rtl="0">
              <a:spcBef>
                <a:spcPts val="440"/>
              </a:spcBef>
              <a:spcAft>
                <a:spcPts val="0"/>
              </a:spcAft>
              <a:buClr>
                <a:schemeClr val="dk1"/>
              </a:buClr>
              <a:buSzPts val="2200"/>
              <a:buNone/>
            </a:pPr>
            <a:endParaRPr b="1" dirty="0"/>
          </a:p>
          <a:p>
            <a:pPr marL="0" lvl="0" indent="0" algn="just" rtl="0">
              <a:spcBef>
                <a:spcPts val="440"/>
              </a:spcBef>
              <a:spcAft>
                <a:spcPts val="0"/>
              </a:spcAft>
              <a:buClr>
                <a:schemeClr val="dk1"/>
              </a:buClr>
              <a:buSzPts val="2200"/>
              <a:buNone/>
            </a:pPr>
            <a:r>
              <a:rPr lang="en-IN" sz="2000" dirty="0">
                <a:highlight>
                  <a:srgbClr val="FFFFFF"/>
                </a:highlight>
              </a:rPr>
              <a:t>Foodie is very important because it revolutionizes the way restaurants manage their businesses and interact with customers. Foodie consolidates numerous functions into a single platform, thereby increasing overall efficiency, reducing errors, and easing administrative burdens. This leads to improved resource utilization, accelerated response times, and enhanced levels of customer satisfaction. Finally, Foodie is indispensable in modernizing food service operations so that restaurants can keep up with customers whose demands are changing at an increasingly fast pace.</a:t>
            </a:r>
            <a:endParaRPr sz="2000" dirty="0"/>
          </a:p>
        </p:txBody>
      </p:sp>
      <p:sp>
        <p:nvSpPr>
          <p:cNvPr id="87" name="Google Shape;8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7</a:t>
            </a:fld>
            <a:endParaRPr/>
          </a:p>
        </p:txBody>
      </p:sp>
    </p:spTree>
  </p:cSld>
  <p:clrMapOvr>
    <a:masterClrMapping/>
  </p:clrMapOvr>
  <p:transition>
    <p:fade thruBlk="1"/>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12"/>
          <p:cNvSpPr txBox="1">
            <a:spLocks noGrp="1"/>
          </p:cNvSpPr>
          <p:nvPr>
            <p:ph type="body" idx="1"/>
          </p:nvPr>
        </p:nvSpPr>
        <p:spPr>
          <a:xfrm>
            <a:off x="428596" y="1000108"/>
            <a:ext cx="8229600" cy="4525963"/>
          </a:xfrm>
          <a:prstGeom prst="rect">
            <a:avLst/>
          </a:prstGeom>
          <a:noFill/>
          <a:ln>
            <a:noFill/>
          </a:ln>
        </p:spPr>
        <p:txBody>
          <a:bodyPr spcFirstLastPara="1" wrap="square" lIns="91425" tIns="45700" rIns="91425" bIns="45700" anchor="t" anchorCtr="0">
            <a:noAutofit/>
          </a:bodyPr>
          <a:lstStyle/>
          <a:p>
            <a:pPr marL="742950" lvl="1" indent="-285750" algn="just" rtl="0">
              <a:spcBef>
                <a:spcPts val="0"/>
              </a:spcBef>
              <a:spcAft>
                <a:spcPts val="0"/>
              </a:spcAft>
              <a:buClr>
                <a:srgbClr val="0D0D0D"/>
              </a:buClr>
              <a:buSzPts val="2200"/>
              <a:buNone/>
            </a:pPr>
            <a:r>
              <a:rPr lang="en-IN" b="1" i="0">
                <a:solidFill>
                  <a:srgbClr val="0D0D0D"/>
                </a:solidFill>
                <a:highlight>
                  <a:srgbClr val="FFFFFF"/>
                </a:highlight>
              </a:rPr>
              <a:t>Frontend Development:</a:t>
            </a:r>
            <a:endParaRPr/>
          </a:p>
          <a:p>
            <a:pPr marL="342900" lvl="0" indent="-342900" algn="just" rtl="0">
              <a:spcBef>
                <a:spcPts val="360"/>
              </a:spcBef>
              <a:spcAft>
                <a:spcPts val="0"/>
              </a:spcAft>
              <a:buClr>
                <a:schemeClr val="dk1"/>
              </a:buClr>
              <a:buSzPts val="1800"/>
              <a:buNone/>
            </a:pPr>
            <a:endParaRPr sz="1800" b="1" i="0">
              <a:solidFill>
                <a:srgbClr val="0D0D0D"/>
              </a:solidFill>
              <a:highlight>
                <a:srgbClr val="FFFFFF"/>
              </a:highlight>
            </a:endParaRPr>
          </a:p>
          <a:p>
            <a:pPr marL="342900" lvl="0" indent="-342900" algn="just" rtl="0">
              <a:spcBef>
                <a:spcPts val="360"/>
              </a:spcBef>
              <a:spcAft>
                <a:spcPts val="0"/>
              </a:spcAft>
              <a:buClr>
                <a:srgbClr val="0D0D0D"/>
              </a:buClr>
              <a:buSzPts val="1800"/>
              <a:buFont typeface="Arial"/>
              <a:buChar char="•"/>
            </a:pPr>
            <a:r>
              <a:rPr lang="en-IN" sz="1800" b="1" i="0">
                <a:solidFill>
                  <a:srgbClr val="0D0D0D"/>
                </a:solidFill>
                <a:highlight>
                  <a:srgbClr val="FFFFFF"/>
                </a:highlight>
              </a:rPr>
              <a:t>HTML, CSS, JavaScript:</a:t>
            </a:r>
            <a:r>
              <a:rPr lang="en-IN" sz="1800" b="0" i="0">
                <a:solidFill>
                  <a:srgbClr val="0D0D0D"/>
                </a:solidFill>
                <a:highlight>
                  <a:srgbClr val="FFFFFF"/>
                </a:highlight>
              </a:rPr>
              <a:t> The frontend user interface will be developed using HTML for structure, CSS for styling, and JavaScript for interactivity and dynamic content generation.</a:t>
            </a:r>
            <a:endParaRPr/>
          </a:p>
          <a:p>
            <a:pPr marL="342900" lvl="0" indent="-342900" algn="just" rtl="0">
              <a:spcBef>
                <a:spcPts val="360"/>
              </a:spcBef>
              <a:spcAft>
                <a:spcPts val="0"/>
              </a:spcAft>
              <a:buClr>
                <a:srgbClr val="0D0D0D"/>
              </a:buClr>
              <a:buSzPts val="1800"/>
              <a:buFont typeface="Arial"/>
              <a:buChar char="•"/>
            </a:pPr>
            <a:r>
              <a:rPr lang="en-IN" sz="1800" b="1" i="0">
                <a:solidFill>
                  <a:srgbClr val="0D0D0D"/>
                </a:solidFill>
                <a:highlight>
                  <a:srgbClr val="FFFFFF"/>
                </a:highlight>
              </a:rPr>
              <a:t>React.js:</a:t>
            </a:r>
            <a:r>
              <a:rPr lang="en-IN" sz="1800" b="0" i="0">
                <a:solidFill>
                  <a:srgbClr val="0D0D0D"/>
                </a:solidFill>
                <a:highlight>
                  <a:srgbClr val="FFFFFF"/>
                </a:highlight>
              </a:rPr>
              <a:t> React.js will serve as the core frontend framework, enabling the creation of reusable UI components, efficient state management, and seamless integration with backend APIs.</a:t>
            </a:r>
            <a:endParaRPr sz="1800" b="0" i="0">
              <a:solidFill>
                <a:srgbClr val="0D0D0D"/>
              </a:solidFill>
              <a:highlight>
                <a:srgbClr val="FFFFFF"/>
              </a:highlight>
              <a:latin typeface="Arial"/>
              <a:ea typeface="Arial"/>
              <a:cs typeface="Arial"/>
              <a:sym typeface="Arial"/>
            </a:endParaRPr>
          </a:p>
          <a:p>
            <a:pPr marL="342900" lvl="0" indent="-342900" algn="just" rtl="0">
              <a:spcBef>
                <a:spcPts val="360"/>
              </a:spcBef>
              <a:spcAft>
                <a:spcPts val="0"/>
              </a:spcAft>
              <a:buClr>
                <a:srgbClr val="0D0D0D"/>
              </a:buClr>
              <a:buSzPts val="1800"/>
              <a:buChar char="•"/>
            </a:pPr>
            <a:r>
              <a:rPr lang="en-IN" sz="1800" b="1" i="0">
                <a:solidFill>
                  <a:srgbClr val="0D0D0D"/>
                </a:solidFill>
                <a:highlight>
                  <a:srgbClr val="FFFFFF"/>
                </a:highlight>
              </a:rPr>
              <a:t>React Router:</a:t>
            </a:r>
            <a:r>
              <a:rPr lang="en-IN" sz="1800">
                <a:solidFill>
                  <a:srgbClr val="0D0D0D"/>
                </a:solidFill>
                <a:highlight>
                  <a:srgbClr val="FFFFFF"/>
                </a:highlight>
              </a:rPr>
              <a:t> </a:t>
            </a:r>
            <a:r>
              <a:rPr lang="en-IN" sz="1800" b="0" i="0">
                <a:solidFill>
                  <a:srgbClr val="0D0D0D"/>
                </a:solidFill>
                <a:highlight>
                  <a:srgbClr val="FFFFFF"/>
                </a:highlight>
              </a:rPr>
              <a:t>React Router is a popular routing library for React applications, allowing developers to manage navigation and URL changes within a single-page application (SPA). It provides a declarative way to define routes and associate them with specific components.</a:t>
            </a:r>
            <a:endParaRPr/>
          </a:p>
          <a:p>
            <a:pPr marL="342900" lvl="0" indent="-342900" algn="just" rtl="0">
              <a:spcBef>
                <a:spcPts val="360"/>
              </a:spcBef>
              <a:spcAft>
                <a:spcPts val="0"/>
              </a:spcAft>
              <a:buClr>
                <a:srgbClr val="0D0D0D"/>
              </a:buClr>
              <a:buSzPts val="1800"/>
              <a:buNone/>
            </a:pPr>
            <a:r>
              <a:rPr lang="en-IN" sz="1800" b="1">
                <a:solidFill>
                  <a:srgbClr val="0D0D0D"/>
                </a:solidFill>
                <a:highlight>
                  <a:srgbClr val="FFFFFF"/>
                </a:highlight>
              </a:rPr>
              <a:t>	Why React JS?</a:t>
            </a:r>
            <a:endParaRPr/>
          </a:p>
          <a:p>
            <a:pPr marL="342900" lvl="0" indent="-342900" algn="just" rtl="0">
              <a:spcBef>
                <a:spcPts val="360"/>
              </a:spcBef>
              <a:spcAft>
                <a:spcPts val="0"/>
              </a:spcAft>
              <a:buClr>
                <a:srgbClr val="0D0D0D"/>
              </a:buClr>
              <a:buSzPts val="1800"/>
              <a:buNone/>
            </a:pPr>
            <a:r>
              <a:rPr lang="en-IN" sz="1800">
                <a:solidFill>
                  <a:srgbClr val="0D0D0D"/>
                </a:solidFill>
                <a:highlight>
                  <a:srgbClr val="FFFFFF"/>
                </a:highlight>
              </a:rPr>
              <a:t>	React.js, renowned for its simplicity, efficiency, and flexibility, emerged as the natural choice for our project. Its component-based architecture allows us to create dynamic and interactive user interfaces, ensuring a smooth and engaging experience for our users. By harnessing the power of React.js, we're able to deliver a feature-rich real estate platform that meets the evolving needs of today's consumers.</a:t>
            </a:r>
            <a:endParaRPr/>
          </a:p>
          <a:p>
            <a:pPr marL="342900" lvl="0" indent="-342900" algn="just" rtl="0">
              <a:spcBef>
                <a:spcPts val="360"/>
              </a:spcBef>
              <a:spcAft>
                <a:spcPts val="0"/>
              </a:spcAft>
              <a:buClr>
                <a:schemeClr val="dk1"/>
              </a:buClr>
              <a:buSzPts val="1800"/>
              <a:buNone/>
            </a:pPr>
            <a:endParaRPr sz="1800" b="0" i="0">
              <a:solidFill>
                <a:srgbClr val="0D0D0D"/>
              </a:solidFill>
              <a:highlight>
                <a:srgbClr val="FFFFFF"/>
              </a:highlight>
            </a:endParaRPr>
          </a:p>
          <a:p>
            <a:pPr marL="342900" lvl="0" indent="-342900" algn="just" rtl="0">
              <a:spcBef>
                <a:spcPts val="360"/>
              </a:spcBef>
              <a:spcAft>
                <a:spcPts val="0"/>
              </a:spcAft>
              <a:buClr>
                <a:schemeClr val="dk1"/>
              </a:buClr>
              <a:buSzPts val="1800"/>
              <a:buNone/>
            </a:pPr>
            <a:endParaRPr sz="1800" b="0" i="0">
              <a:solidFill>
                <a:srgbClr val="0D0D0D"/>
              </a:solidFill>
              <a:highlight>
                <a:srgbClr val="FFFFFF"/>
              </a:highlight>
              <a:latin typeface="Arial"/>
              <a:ea typeface="Arial"/>
              <a:cs typeface="Arial"/>
              <a:sym typeface="Arial"/>
            </a:endParaRPr>
          </a:p>
          <a:p>
            <a:pPr marL="0" lvl="0" indent="0" algn="just" rtl="0">
              <a:spcBef>
                <a:spcPts val="440"/>
              </a:spcBef>
              <a:spcAft>
                <a:spcPts val="0"/>
              </a:spcAft>
              <a:buClr>
                <a:schemeClr val="dk1"/>
              </a:buClr>
              <a:buSzPts val="2200"/>
              <a:buNone/>
            </a:pPr>
            <a:endParaRPr/>
          </a:p>
        </p:txBody>
      </p:sp>
      <p:pic>
        <p:nvPicPr>
          <p:cNvPr id="100" name="Google Shape;100;p12" descr="1_WA_9JsyqFkge2HwYKcdJQw.png"/>
          <p:cNvPicPr preferRelativeResize="0"/>
          <p:nvPr/>
        </p:nvPicPr>
        <p:blipFill rotWithShape="1">
          <a:blip r:embed="rId3">
            <a:alphaModFix/>
          </a:blip>
          <a:srcRect/>
          <a:stretch/>
        </p:blipFill>
        <p:spPr>
          <a:xfrm>
            <a:off x="-214346" y="714356"/>
            <a:ext cx="1405846" cy="993464"/>
          </a:xfrm>
          <a:prstGeom prst="rect">
            <a:avLst/>
          </a:prstGeom>
          <a:noFill/>
          <a:ln>
            <a:noFill/>
          </a:ln>
        </p:spPr>
      </p:pic>
      <p:sp>
        <p:nvSpPr>
          <p:cNvPr id="101" name="Google Shape;101;p12"/>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IN" b="1"/>
              <a:t>Software requirements</a:t>
            </a:r>
            <a:endParaRPr/>
          </a:p>
        </p:txBody>
      </p:sp>
      <p:sp>
        <p:nvSpPr>
          <p:cNvPr id="102" name="Google Shape;102;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8</a:t>
            </a:fld>
            <a:endParaRPr/>
          </a:p>
        </p:txBody>
      </p:sp>
      <p:sp>
        <p:nvSpPr>
          <p:cNvPr id="103" name="Google Shape;103;p12" descr="React (JavaScript library) - Wikipedia"/>
          <p:cNvSpPr/>
          <p:nvPr/>
        </p:nvSpPr>
        <p:spPr>
          <a:xfrm>
            <a:off x="155575" y="-144463"/>
            <a:ext cx="304800" cy="30480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transition>
    <p:fade thruBlk="1"/>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13"/>
          <p:cNvSpPr txBox="1">
            <a:spLocks noGrp="1"/>
          </p:cNvSpPr>
          <p:nvPr>
            <p:ph type="body" idx="1"/>
          </p:nvPr>
        </p:nvSpPr>
        <p:spPr>
          <a:xfrm>
            <a:off x="307975" y="817545"/>
            <a:ext cx="8229600" cy="5903930"/>
          </a:xfrm>
          <a:prstGeom prst="rect">
            <a:avLst/>
          </a:prstGeom>
          <a:noFill/>
          <a:ln>
            <a:noFill/>
          </a:ln>
        </p:spPr>
        <p:txBody>
          <a:bodyPr spcFirstLastPara="1" wrap="square" lIns="91425" tIns="45700" rIns="91425" bIns="45700" anchor="t" anchorCtr="0">
            <a:noAutofit/>
          </a:bodyPr>
          <a:lstStyle/>
          <a:p>
            <a:pPr marL="342900" lvl="0" indent="-342900" algn="just" rtl="0">
              <a:spcBef>
                <a:spcPts val="0"/>
              </a:spcBef>
              <a:spcAft>
                <a:spcPts val="0"/>
              </a:spcAft>
              <a:buClr>
                <a:srgbClr val="0D0D0D"/>
              </a:buClr>
              <a:buSzPts val="1800"/>
              <a:buChar char="•"/>
            </a:pPr>
            <a:r>
              <a:rPr lang="en-IN" sz="1800" b="1" i="0" dirty="0">
                <a:solidFill>
                  <a:srgbClr val="0D0D0D"/>
                </a:solidFill>
                <a:highlight>
                  <a:srgbClr val="FFFFFF"/>
                </a:highlight>
              </a:rPr>
              <a:t>Backend Development</a:t>
            </a:r>
            <a:endParaRPr dirty="0"/>
          </a:p>
          <a:p>
            <a:pPr marL="400050" lvl="1" indent="0" algn="just" rtl="0">
              <a:spcBef>
                <a:spcPts val="360"/>
              </a:spcBef>
              <a:spcAft>
                <a:spcPts val="0"/>
              </a:spcAft>
              <a:buClr>
                <a:srgbClr val="0D0D0D"/>
              </a:buClr>
              <a:buSzPts val="1800"/>
              <a:buNone/>
            </a:pPr>
            <a:r>
              <a:rPr lang="en-IN" sz="1800" b="1" i="0" dirty="0">
                <a:solidFill>
                  <a:srgbClr val="0D0D0D"/>
                </a:solidFill>
                <a:highlight>
                  <a:srgbClr val="FFFFFF"/>
                </a:highlight>
              </a:rPr>
              <a:t>Node.js and Express.js: </a:t>
            </a:r>
            <a:r>
              <a:rPr lang="en-IN" sz="1800" b="0" i="0" dirty="0">
                <a:solidFill>
                  <a:srgbClr val="0D0D0D"/>
                </a:solidFill>
                <a:highlight>
                  <a:srgbClr val="FFFFFF"/>
                </a:highlight>
              </a:rPr>
              <a:t>The backend will be developed using Node.js with Express.js as the framework. Node.js is chosen for its non-blocking, event-driven architecture, which is well-suited for handling multiple requests efficiently. Express.js simplifies the process of building web applications and APIs. The Node.js API documentation and Express.js documentation will be used as key references.</a:t>
            </a:r>
            <a:endParaRPr dirty="0"/>
          </a:p>
          <a:p>
            <a:pPr marL="342900" lvl="0" indent="-228600" algn="just" rtl="0">
              <a:spcBef>
                <a:spcPts val="360"/>
              </a:spcBef>
              <a:spcAft>
                <a:spcPts val="0"/>
              </a:spcAft>
              <a:buClr>
                <a:schemeClr val="dk1"/>
              </a:buClr>
              <a:buSzPts val="1800"/>
              <a:buNone/>
            </a:pPr>
            <a:endParaRPr sz="1800" b="0" i="0" dirty="0">
              <a:solidFill>
                <a:srgbClr val="0D0D0D"/>
              </a:solidFill>
              <a:highlight>
                <a:srgbClr val="FFFFFF"/>
              </a:highlight>
            </a:endParaRPr>
          </a:p>
          <a:p>
            <a:pPr marL="342900" lvl="0" indent="-342900" algn="just" rtl="0">
              <a:spcBef>
                <a:spcPts val="360"/>
              </a:spcBef>
              <a:spcAft>
                <a:spcPts val="0"/>
              </a:spcAft>
              <a:buClr>
                <a:srgbClr val="0D0D0D"/>
              </a:buClr>
              <a:buSzPts val="1800"/>
              <a:buChar char="•"/>
            </a:pPr>
            <a:r>
              <a:rPr lang="en-IN" sz="1800" b="1" i="0" dirty="0">
                <a:solidFill>
                  <a:srgbClr val="0D0D0D"/>
                </a:solidFill>
                <a:highlight>
                  <a:srgbClr val="FFFFFF"/>
                </a:highlight>
              </a:rPr>
              <a:t>Database Management</a:t>
            </a:r>
            <a:endParaRPr dirty="0"/>
          </a:p>
          <a:p>
            <a:pPr marL="400050" lvl="1" indent="0" algn="just" rtl="0">
              <a:spcBef>
                <a:spcPts val="360"/>
              </a:spcBef>
              <a:spcAft>
                <a:spcPts val="0"/>
              </a:spcAft>
              <a:buClr>
                <a:srgbClr val="0D0D0D"/>
              </a:buClr>
              <a:buSzPts val="1800"/>
              <a:buNone/>
            </a:pPr>
            <a:r>
              <a:rPr lang="en-IN" sz="1800" b="1" i="0" dirty="0">
                <a:solidFill>
                  <a:srgbClr val="0D0D0D"/>
                </a:solidFill>
                <a:highlight>
                  <a:srgbClr val="FFFFFF"/>
                </a:highlight>
              </a:rPr>
              <a:t>MongoDB with Mongoose: </a:t>
            </a:r>
            <a:r>
              <a:rPr lang="en-IN" sz="1800" b="0" i="0" dirty="0">
                <a:solidFill>
                  <a:srgbClr val="0D0D0D"/>
                </a:solidFill>
                <a:highlight>
                  <a:srgbClr val="FFFFFF"/>
                </a:highlight>
              </a:rPr>
              <a:t>MongoDB will serve as the NoSQL database for storing </a:t>
            </a:r>
            <a:r>
              <a:rPr lang="en-IN" sz="1800" b="0" i="0">
                <a:solidFill>
                  <a:srgbClr val="0D0D0D"/>
                </a:solidFill>
                <a:highlight>
                  <a:srgbClr val="FFFFFF"/>
                </a:highlight>
              </a:rPr>
              <a:t>unstructured data. </a:t>
            </a:r>
            <a:r>
              <a:rPr lang="en-IN" sz="1800" b="0" i="0" dirty="0">
                <a:solidFill>
                  <a:srgbClr val="0D0D0D"/>
                </a:solidFill>
                <a:highlight>
                  <a:srgbClr val="FFFFFF"/>
                </a:highlight>
              </a:rPr>
              <a:t>Mongoose will be used to provide a schema-based solution for MongoDB, making it easier to enforce data validation and relationships. The MongoDB documentation and Mongoose guide will be essential resources.</a:t>
            </a:r>
            <a:endParaRPr dirty="0"/>
          </a:p>
          <a:p>
            <a:pPr marL="342900" lvl="0" indent="-228600" algn="just" rtl="0">
              <a:spcBef>
                <a:spcPts val="360"/>
              </a:spcBef>
              <a:spcAft>
                <a:spcPts val="0"/>
              </a:spcAft>
              <a:buClr>
                <a:schemeClr val="dk1"/>
              </a:buClr>
              <a:buSzPts val="1800"/>
              <a:buNone/>
            </a:pPr>
            <a:endParaRPr sz="1800" b="0" i="0" dirty="0">
              <a:solidFill>
                <a:srgbClr val="0D0D0D"/>
              </a:solidFill>
              <a:highlight>
                <a:srgbClr val="FFFFFF"/>
              </a:highlight>
            </a:endParaRPr>
          </a:p>
          <a:p>
            <a:pPr marL="342900" lvl="0" indent="-342900" algn="just" rtl="0">
              <a:spcBef>
                <a:spcPts val="360"/>
              </a:spcBef>
              <a:spcAft>
                <a:spcPts val="0"/>
              </a:spcAft>
              <a:buClr>
                <a:srgbClr val="0D0D0D"/>
              </a:buClr>
              <a:buSzPts val="1800"/>
              <a:buChar char="•"/>
            </a:pPr>
            <a:r>
              <a:rPr lang="en-IN" sz="1800" b="1" i="0" dirty="0">
                <a:solidFill>
                  <a:srgbClr val="0D0D0D"/>
                </a:solidFill>
                <a:highlight>
                  <a:srgbClr val="FFFFFF"/>
                </a:highlight>
              </a:rPr>
              <a:t>API Testing</a:t>
            </a:r>
            <a:endParaRPr dirty="0"/>
          </a:p>
          <a:p>
            <a:pPr marL="400050" lvl="1" indent="0" algn="just" rtl="0">
              <a:spcBef>
                <a:spcPts val="360"/>
              </a:spcBef>
              <a:spcAft>
                <a:spcPts val="0"/>
              </a:spcAft>
              <a:buClr>
                <a:srgbClr val="0D0D0D"/>
              </a:buClr>
              <a:buSzPts val="1800"/>
              <a:buNone/>
            </a:pPr>
            <a:r>
              <a:rPr lang="en-IN" sz="1800" b="1" i="0" dirty="0">
                <a:solidFill>
                  <a:srgbClr val="0D0D0D"/>
                </a:solidFill>
                <a:highlight>
                  <a:srgbClr val="FFFFFF"/>
                </a:highlight>
              </a:rPr>
              <a:t>Postman: </a:t>
            </a:r>
            <a:r>
              <a:rPr lang="en-IN" sz="1800" b="0" i="0" dirty="0">
                <a:solidFill>
                  <a:srgbClr val="0D0D0D"/>
                </a:solidFill>
                <a:highlight>
                  <a:srgbClr val="FFFFFF"/>
                </a:highlight>
              </a:rPr>
              <a:t>Postman will be employed to test the APIs developed for the project. It allows for easy testing and debugging of endpoints, ensuring they function as expected before deployment. The Postman documentation will guide the setup and usage of Postman.</a:t>
            </a:r>
            <a:endParaRPr sz="1800" b="0" i="0" dirty="0">
              <a:solidFill>
                <a:srgbClr val="0D0D0D"/>
              </a:solidFill>
              <a:highlight>
                <a:srgbClr val="FFFFFF"/>
              </a:highlight>
            </a:endParaRPr>
          </a:p>
          <a:p>
            <a:pPr marL="342900" lvl="0" indent="-228600" algn="just" rtl="0">
              <a:spcBef>
                <a:spcPts val="360"/>
              </a:spcBef>
              <a:spcAft>
                <a:spcPts val="0"/>
              </a:spcAft>
              <a:buClr>
                <a:schemeClr val="dk1"/>
              </a:buClr>
              <a:buSzPts val="1800"/>
              <a:buNone/>
            </a:pPr>
            <a:endParaRPr sz="1800" b="0" i="0" dirty="0">
              <a:solidFill>
                <a:srgbClr val="0D0D0D"/>
              </a:solidFill>
              <a:highlight>
                <a:srgbClr val="FFFFFF"/>
              </a:highlight>
              <a:latin typeface="Arial"/>
              <a:ea typeface="Arial"/>
              <a:cs typeface="Arial"/>
              <a:sym typeface="Arial"/>
            </a:endParaRPr>
          </a:p>
          <a:p>
            <a:pPr marL="342900" lvl="0" indent="-203200" algn="just" rtl="0">
              <a:spcBef>
                <a:spcPts val="440"/>
              </a:spcBef>
              <a:spcAft>
                <a:spcPts val="0"/>
              </a:spcAft>
              <a:buClr>
                <a:schemeClr val="dk1"/>
              </a:buClr>
              <a:buSzPts val="2200"/>
              <a:buNone/>
            </a:pPr>
            <a:endParaRPr dirty="0"/>
          </a:p>
        </p:txBody>
      </p:sp>
      <p:sp>
        <p:nvSpPr>
          <p:cNvPr id="109" name="Google Shape;109;p13"/>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IN" b="1"/>
              <a:t>Software requirements</a:t>
            </a:r>
            <a:endParaRPr/>
          </a:p>
        </p:txBody>
      </p:sp>
      <p:sp>
        <p:nvSpPr>
          <p:cNvPr id="110" name="Google Shape;110;p1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9</a:t>
            </a:fld>
            <a:endParaRPr/>
          </a:p>
        </p:txBody>
      </p:sp>
      <p:sp>
        <p:nvSpPr>
          <p:cNvPr id="111" name="Google Shape;111;p13" descr="React (JavaScript library) - Wikipedia"/>
          <p:cNvSpPr/>
          <p:nvPr/>
        </p:nvSpPr>
        <p:spPr>
          <a:xfrm>
            <a:off x="155575" y="-144463"/>
            <a:ext cx="304800" cy="30480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transition>
    <p:fade thruBlk="1"/>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14"/>
          <p:cNvSpPr txBox="1"/>
          <p:nvPr/>
        </p:nvSpPr>
        <p:spPr>
          <a:xfrm>
            <a:off x="467544" y="260648"/>
            <a:ext cx="5400600"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3200" b="1">
                <a:solidFill>
                  <a:schemeClr val="dk1"/>
                </a:solidFill>
                <a:latin typeface="Times New Roman"/>
                <a:ea typeface="Times New Roman"/>
                <a:cs typeface="Times New Roman"/>
                <a:sym typeface="Times New Roman"/>
              </a:rPr>
              <a:t>KEY FEATURES</a:t>
            </a:r>
            <a:endParaRPr/>
          </a:p>
        </p:txBody>
      </p:sp>
      <p:sp>
        <p:nvSpPr>
          <p:cNvPr id="117" name="Google Shape;117;p1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10</a:t>
            </a:fld>
            <a:endParaRPr/>
          </a:p>
        </p:txBody>
      </p:sp>
      <p:sp>
        <p:nvSpPr>
          <p:cNvPr id="118" name="Google Shape;118;p14"/>
          <p:cNvSpPr/>
          <p:nvPr/>
        </p:nvSpPr>
        <p:spPr>
          <a:xfrm>
            <a:off x="285725" y="1000101"/>
            <a:ext cx="8136900" cy="5600700"/>
          </a:xfrm>
          <a:prstGeom prst="rect">
            <a:avLst/>
          </a:prstGeom>
          <a:noFill/>
          <a:ln>
            <a:noFill/>
          </a:ln>
        </p:spPr>
        <p:txBody>
          <a:bodyPr spcFirstLastPara="1" wrap="square" lIns="91425" tIns="45700" rIns="91425" bIns="45700" anchor="t" anchorCtr="0">
            <a:noAutofit/>
          </a:bodyPr>
          <a:lstStyle/>
          <a:p>
            <a:pPr marL="457200" lvl="0" indent="-381000" algn="just" rtl="0">
              <a:spcBef>
                <a:spcPts val="0"/>
              </a:spcBef>
              <a:spcAft>
                <a:spcPts val="0"/>
              </a:spcAft>
              <a:buClr>
                <a:srgbClr val="0D0D0D"/>
              </a:buClr>
              <a:buSzPts val="2400"/>
              <a:buChar char="•"/>
            </a:pPr>
            <a:r>
              <a:rPr lang="en-IN" sz="1800" b="1">
                <a:solidFill>
                  <a:schemeClr val="dk1"/>
                </a:solidFill>
                <a:highlight>
                  <a:srgbClr val="FFFFFF"/>
                </a:highlight>
                <a:latin typeface="Times New Roman"/>
                <a:ea typeface="Times New Roman"/>
                <a:cs typeface="Times New Roman"/>
                <a:sym typeface="Times New Roman"/>
              </a:rPr>
              <a:t>User-Friendly Interface: </a:t>
            </a:r>
            <a:r>
              <a:rPr lang="en-IN" sz="1800">
                <a:solidFill>
                  <a:schemeClr val="dk1"/>
                </a:solidFill>
                <a:highlight>
                  <a:srgbClr val="FFFFFF"/>
                </a:highlight>
                <a:latin typeface="Times New Roman"/>
                <a:ea typeface="Times New Roman"/>
                <a:cs typeface="Times New Roman"/>
                <a:sym typeface="Times New Roman"/>
              </a:rPr>
              <a:t>This is designed for easy operation, hence it provides an easy course of action and placing orders by the customers, improving their experience while on the platform.</a:t>
            </a:r>
            <a:endParaRPr sz="1800">
              <a:solidFill>
                <a:schemeClr val="dk1"/>
              </a:solidFill>
              <a:highlight>
                <a:srgbClr val="FFFFFF"/>
              </a:highlight>
              <a:latin typeface="Times New Roman"/>
              <a:ea typeface="Times New Roman"/>
              <a:cs typeface="Times New Roman"/>
              <a:sym typeface="Times New Roman"/>
            </a:endParaRPr>
          </a:p>
          <a:p>
            <a:pPr marL="457200" lvl="0" indent="-381000" algn="just" rtl="0">
              <a:spcBef>
                <a:spcPts val="0"/>
              </a:spcBef>
              <a:spcAft>
                <a:spcPts val="0"/>
              </a:spcAft>
              <a:buClr>
                <a:srgbClr val="0D0D0D"/>
              </a:buClr>
              <a:buSzPts val="2400"/>
              <a:buChar char="•"/>
            </a:pPr>
            <a:r>
              <a:rPr lang="en-IN" sz="1800" b="1">
                <a:solidFill>
                  <a:schemeClr val="dk1"/>
                </a:solidFill>
                <a:highlight>
                  <a:srgbClr val="FFFFFF"/>
                </a:highlight>
                <a:latin typeface="Times New Roman"/>
                <a:ea typeface="Times New Roman"/>
                <a:cs typeface="Times New Roman"/>
                <a:sym typeface="Times New Roman"/>
              </a:rPr>
              <a:t>Order Management:</a:t>
            </a:r>
            <a:r>
              <a:rPr lang="en-IN" sz="1800">
                <a:solidFill>
                  <a:schemeClr val="dk1"/>
                </a:solidFill>
                <a:highlight>
                  <a:srgbClr val="FFFFFF"/>
                </a:highlight>
                <a:latin typeface="Times New Roman"/>
                <a:ea typeface="Times New Roman"/>
                <a:cs typeface="Times New Roman"/>
                <a:sym typeface="Times New Roman"/>
              </a:rPr>
              <a:t> An effective administration of centralized system orders assures that restaurants can handle large volumes efficiently and with less likelihood of errors.</a:t>
            </a:r>
            <a:endParaRPr sz="1800">
              <a:solidFill>
                <a:schemeClr val="dk1"/>
              </a:solidFill>
              <a:highlight>
                <a:srgbClr val="FFFFFF"/>
              </a:highlight>
              <a:latin typeface="Times New Roman"/>
              <a:ea typeface="Times New Roman"/>
              <a:cs typeface="Times New Roman"/>
              <a:sym typeface="Times New Roman"/>
            </a:endParaRPr>
          </a:p>
          <a:p>
            <a:pPr marL="457200" lvl="0" indent="-381000" algn="just" rtl="0">
              <a:spcBef>
                <a:spcPts val="0"/>
              </a:spcBef>
              <a:spcAft>
                <a:spcPts val="0"/>
              </a:spcAft>
              <a:buClr>
                <a:srgbClr val="0D0D0D"/>
              </a:buClr>
              <a:buSzPts val="2400"/>
              <a:buChar char="•"/>
            </a:pPr>
            <a:r>
              <a:rPr lang="en-IN" sz="1800" b="1">
                <a:solidFill>
                  <a:schemeClr val="dk1"/>
                </a:solidFill>
                <a:highlight>
                  <a:srgbClr val="FFFFFF"/>
                </a:highlight>
                <a:latin typeface="Times New Roman"/>
                <a:ea typeface="Times New Roman"/>
                <a:cs typeface="Times New Roman"/>
                <a:sym typeface="Times New Roman"/>
              </a:rPr>
              <a:t>Order Real-time Tracking: </a:t>
            </a:r>
            <a:r>
              <a:rPr lang="en-IN" sz="1800">
                <a:solidFill>
                  <a:schemeClr val="dk1"/>
                </a:solidFill>
                <a:highlight>
                  <a:srgbClr val="FFFFFF"/>
                </a:highlight>
                <a:latin typeface="Times New Roman"/>
                <a:ea typeface="Times New Roman"/>
                <a:cs typeface="Times New Roman"/>
                <a:sym typeface="Times New Roman"/>
              </a:rPr>
              <a:t>Real-time updates to customers about the status of their order gives them transparency and reduces uncertainty in the delivery process.</a:t>
            </a:r>
            <a:endParaRPr sz="1800">
              <a:solidFill>
                <a:schemeClr val="dk1"/>
              </a:solidFill>
              <a:highlight>
                <a:srgbClr val="FFFFFF"/>
              </a:highlight>
              <a:latin typeface="Times New Roman"/>
              <a:ea typeface="Times New Roman"/>
              <a:cs typeface="Times New Roman"/>
              <a:sym typeface="Times New Roman"/>
            </a:endParaRPr>
          </a:p>
          <a:p>
            <a:pPr marL="457200" lvl="0" indent="-381000" algn="just" rtl="0">
              <a:spcBef>
                <a:spcPts val="0"/>
              </a:spcBef>
              <a:spcAft>
                <a:spcPts val="0"/>
              </a:spcAft>
              <a:buClr>
                <a:srgbClr val="0D0D0D"/>
              </a:buClr>
              <a:buSzPts val="2400"/>
              <a:buChar char="•"/>
            </a:pPr>
            <a:r>
              <a:rPr lang="en-IN" sz="1800" b="1">
                <a:solidFill>
                  <a:schemeClr val="dk1"/>
                </a:solidFill>
                <a:highlight>
                  <a:srgbClr val="FFFFFF"/>
                </a:highlight>
                <a:latin typeface="Times New Roman"/>
                <a:ea typeface="Times New Roman"/>
                <a:cs typeface="Times New Roman"/>
                <a:sym typeface="Times New Roman"/>
              </a:rPr>
              <a:t>Payment Integration: </a:t>
            </a:r>
            <a:r>
              <a:rPr lang="en-IN" sz="1800">
                <a:solidFill>
                  <a:schemeClr val="dk1"/>
                </a:solidFill>
                <a:highlight>
                  <a:srgbClr val="FFFFFF"/>
                </a:highlight>
                <a:latin typeface="Times New Roman"/>
                <a:ea typeface="Times New Roman"/>
                <a:cs typeface="Times New Roman"/>
                <a:sym typeface="Times New Roman"/>
              </a:rPr>
              <a:t>Secure payment gateways are integrated efficiently so that multiple modes of payment can be in place, thereby gaining consumer trust.</a:t>
            </a:r>
            <a:endParaRPr sz="1800">
              <a:solidFill>
                <a:schemeClr val="dk1"/>
              </a:solidFill>
              <a:highlight>
                <a:srgbClr val="FFFFFF"/>
              </a:highlight>
              <a:latin typeface="Times New Roman"/>
              <a:ea typeface="Times New Roman"/>
              <a:cs typeface="Times New Roman"/>
              <a:sym typeface="Times New Roman"/>
            </a:endParaRPr>
          </a:p>
          <a:p>
            <a:pPr marL="457200" lvl="0" indent="-381000" algn="just" rtl="0">
              <a:spcBef>
                <a:spcPts val="0"/>
              </a:spcBef>
              <a:spcAft>
                <a:spcPts val="0"/>
              </a:spcAft>
              <a:buClr>
                <a:srgbClr val="0D0D0D"/>
              </a:buClr>
              <a:buSzPts val="2400"/>
              <a:buChar char="•"/>
            </a:pPr>
            <a:r>
              <a:rPr lang="en-IN" sz="1800" b="1">
                <a:solidFill>
                  <a:schemeClr val="dk1"/>
                </a:solidFill>
                <a:highlight>
                  <a:srgbClr val="FFFFFF"/>
                </a:highlight>
                <a:latin typeface="Times New Roman"/>
                <a:ea typeface="Times New Roman"/>
                <a:cs typeface="Times New Roman"/>
                <a:sym typeface="Times New Roman"/>
              </a:rPr>
              <a:t>Restaurant Dashboard: </a:t>
            </a:r>
            <a:r>
              <a:rPr lang="en-IN" sz="1800">
                <a:solidFill>
                  <a:schemeClr val="dk1"/>
                </a:solidFill>
                <a:highlight>
                  <a:srgbClr val="FFFFFF"/>
                </a:highlight>
                <a:latin typeface="Times New Roman"/>
                <a:ea typeface="Times New Roman"/>
                <a:cs typeface="Times New Roman"/>
                <a:sym typeface="Times New Roman"/>
              </a:rPr>
              <a:t>Through an extended dashboard, restaurants can manage menu items, track orders, and manage delivery at their fingertips; hence, seamless and effective service.</a:t>
            </a:r>
            <a:endParaRPr sz="1800">
              <a:solidFill>
                <a:schemeClr val="dk1"/>
              </a:solidFill>
              <a:highlight>
                <a:srgbClr val="FFFFFF"/>
              </a:highlight>
              <a:latin typeface="Times New Roman"/>
              <a:ea typeface="Times New Roman"/>
              <a:cs typeface="Times New Roman"/>
              <a:sym typeface="Times New Roman"/>
            </a:endParaRPr>
          </a:p>
          <a:p>
            <a:pPr marL="457200" lvl="0" indent="-381000" algn="just" rtl="0">
              <a:spcBef>
                <a:spcPts val="0"/>
              </a:spcBef>
              <a:spcAft>
                <a:spcPts val="0"/>
              </a:spcAft>
              <a:buClr>
                <a:srgbClr val="0D0D0D"/>
              </a:buClr>
              <a:buSzPts val="2400"/>
              <a:buChar char="•"/>
            </a:pPr>
            <a:r>
              <a:rPr lang="en-IN" sz="1800" b="1">
                <a:solidFill>
                  <a:schemeClr val="dk1"/>
                </a:solidFill>
                <a:highlight>
                  <a:srgbClr val="FFFFFF"/>
                </a:highlight>
                <a:latin typeface="Times New Roman"/>
                <a:ea typeface="Times New Roman"/>
                <a:cs typeface="Times New Roman"/>
                <a:sym typeface="Times New Roman"/>
              </a:rPr>
              <a:t>Delivery Optimization: </a:t>
            </a:r>
            <a:r>
              <a:rPr lang="en-IN" sz="1800">
                <a:solidFill>
                  <a:schemeClr val="dk1"/>
                </a:solidFill>
                <a:highlight>
                  <a:srgbClr val="FFFFFF"/>
                </a:highlight>
                <a:latin typeface="Times New Roman"/>
                <a:ea typeface="Times New Roman"/>
                <a:cs typeface="Times New Roman"/>
                <a:sym typeface="Times New Roman"/>
              </a:rPr>
              <a:t>Optimizes delivery routes using real-time data, reducing delivery times and improving overall efficiency in getting orders to customers quickly.</a:t>
            </a:r>
            <a:endParaRPr sz="3000" i="0">
              <a:solidFill>
                <a:srgbClr val="0C0C0C"/>
              </a:solidFill>
              <a:latin typeface="Times New Roman"/>
              <a:ea typeface="Times New Roman"/>
              <a:cs typeface="Times New Roman"/>
              <a:sym typeface="Times New Roman"/>
            </a:endParaRPr>
          </a:p>
        </p:txBody>
      </p:sp>
    </p:spTree>
  </p:cSld>
  <p:clrMapOvr>
    <a:masterClrMapping/>
  </p:clrMapOvr>
  <p:transition>
    <p:fade thruBlk="1"/>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15"/>
          <p:cNvSpPr txBox="1"/>
          <p:nvPr/>
        </p:nvSpPr>
        <p:spPr>
          <a:xfrm>
            <a:off x="467544" y="260648"/>
            <a:ext cx="5400600" cy="585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3200" b="1">
                <a:solidFill>
                  <a:schemeClr val="dk1"/>
                </a:solidFill>
                <a:latin typeface="Times New Roman"/>
                <a:ea typeface="Times New Roman"/>
                <a:cs typeface="Times New Roman"/>
                <a:sym typeface="Times New Roman"/>
              </a:rPr>
              <a:t>Our Design</a:t>
            </a:r>
            <a:endParaRPr sz="3200" b="1">
              <a:solidFill>
                <a:schemeClr val="dk1"/>
              </a:solidFill>
              <a:latin typeface="Times New Roman"/>
              <a:ea typeface="Times New Roman"/>
              <a:cs typeface="Times New Roman"/>
              <a:sym typeface="Times New Roman"/>
            </a:endParaRPr>
          </a:p>
        </p:txBody>
      </p:sp>
      <p:sp>
        <p:nvSpPr>
          <p:cNvPr id="124" name="Google Shape;124;p15"/>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11</a:t>
            </a:fld>
            <a:endParaRPr/>
          </a:p>
        </p:txBody>
      </p:sp>
      <p:pic>
        <p:nvPicPr>
          <p:cNvPr id="125" name="Google Shape;125;p15"/>
          <p:cNvPicPr preferRelativeResize="0"/>
          <p:nvPr/>
        </p:nvPicPr>
        <p:blipFill rotWithShape="1">
          <a:blip r:embed="rId3">
            <a:alphaModFix/>
          </a:blip>
          <a:srcRect b="71531"/>
          <a:stretch/>
        </p:blipFill>
        <p:spPr>
          <a:xfrm>
            <a:off x="1610413" y="1001475"/>
            <a:ext cx="5923175" cy="5490401"/>
          </a:xfrm>
          <a:prstGeom prst="rect">
            <a:avLst/>
          </a:prstGeom>
          <a:noFill/>
          <a:ln>
            <a:noFill/>
          </a:ln>
        </p:spPr>
      </p:pic>
    </p:spTree>
  </p:cSld>
  <p:clrMapOvr>
    <a:masterClrMapping/>
  </p:clrMapOvr>
  <p:transition>
    <p:fade thruBlk="1"/>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16"/>
          <p:cNvSpPr txBox="1"/>
          <p:nvPr/>
        </p:nvSpPr>
        <p:spPr>
          <a:xfrm>
            <a:off x="467544" y="260648"/>
            <a:ext cx="5400600" cy="585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3200" b="1">
                <a:solidFill>
                  <a:schemeClr val="dk1"/>
                </a:solidFill>
                <a:latin typeface="Times New Roman"/>
                <a:ea typeface="Times New Roman"/>
                <a:cs typeface="Times New Roman"/>
                <a:sym typeface="Times New Roman"/>
              </a:rPr>
              <a:t>Our Design</a:t>
            </a:r>
            <a:endParaRPr sz="3200" b="1">
              <a:solidFill>
                <a:schemeClr val="dk1"/>
              </a:solidFill>
              <a:latin typeface="Times New Roman"/>
              <a:ea typeface="Times New Roman"/>
              <a:cs typeface="Times New Roman"/>
              <a:sym typeface="Times New Roman"/>
            </a:endParaRPr>
          </a:p>
        </p:txBody>
      </p:sp>
      <p:sp>
        <p:nvSpPr>
          <p:cNvPr id="131" name="Google Shape;131;p16"/>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12</a:t>
            </a:fld>
            <a:endParaRPr/>
          </a:p>
        </p:txBody>
      </p:sp>
      <p:pic>
        <p:nvPicPr>
          <p:cNvPr id="132" name="Google Shape;132;p16"/>
          <p:cNvPicPr preferRelativeResize="0"/>
          <p:nvPr/>
        </p:nvPicPr>
        <p:blipFill>
          <a:blip r:embed="rId3">
            <a:alphaModFix/>
          </a:blip>
          <a:stretch>
            <a:fillRect/>
          </a:stretch>
        </p:blipFill>
        <p:spPr>
          <a:xfrm>
            <a:off x="3624800" y="2637250"/>
            <a:ext cx="5062001" cy="3719101"/>
          </a:xfrm>
          <a:prstGeom prst="rect">
            <a:avLst/>
          </a:prstGeom>
          <a:noFill/>
          <a:ln>
            <a:noFill/>
          </a:ln>
        </p:spPr>
      </p:pic>
      <p:pic>
        <p:nvPicPr>
          <p:cNvPr id="133" name="Google Shape;133;p16"/>
          <p:cNvPicPr preferRelativeResize="0"/>
          <p:nvPr/>
        </p:nvPicPr>
        <p:blipFill>
          <a:blip r:embed="rId4">
            <a:alphaModFix/>
          </a:blip>
          <a:stretch>
            <a:fillRect/>
          </a:stretch>
        </p:blipFill>
        <p:spPr>
          <a:xfrm>
            <a:off x="124025" y="1077475"/>
            <a:ext cx="4447974" cy="2278440"/>
          </a:xfrm>
          <a:prstGeom prst="rect">
            <a:avLst/>
          </a:prstGeom>
          <a:noFill/>
          <a:ln>
            <a:noFill/>
          </a:ln>
        </p:spPr>
      </p:pic>
    </p:spTree>
  </p:cSld>
  <p:clrMapOvr>
    <a:masterClrMapping/>
  </p:clrMapOvr>
  <p:transition>
    <p:fade thruBlk="1"/>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17"/>
          <p:cNvSpPr txBox="1"/>
          <p:nvPr/>
        </p:nvSpPr>
        <p:spPr>
          <a:xfrm>
            <a:off x="467544" y="260648"/>
            <a:ext cx="5400600" cy="585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3200" b="1">
                <a:solidFill>
                  <a:schemeClr val="dk1"/>
                </a:solidFill>
                <a:latin typeface="Times New Roman"/>
                <a:ea typeface="Times New Roman"/>
                <a:cs typeface="Times New Roman"/>
                <a:sym typeface="Times New Roman"/>
              </a:rPr>
              <a:t>Our Design</a:t>
            </a:r>
            <a:endParaRPr sz="3200" b="1">
              <a:solidFill>
                <a:schemeClr val="dk1"/>
              </a:solidFill>
              <a:latin typeface="Times New Roman"/>
              <a:ea typeface="Times New Roman"/>
              <a:cs typeface="Times New Roman"/>
              <a:sym typeface="Times New Roman"/>
            </a:endParaRPr>
          </a:p>
        </p:txBody>
      </p:sp>
      <p:sp>
        <p:nvSpPr>
          <p:cNvPr id="139" name="Google Shape;139;p17"/>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13</a:t>
            </a:fld>
            <a:endParaRPr/>
          </a:p>
        </p:txBody>
      </p:sp>
      <p:pic>
        <p:nvPicPr>
          <p:cNvPr id="140" name="Google Shape;140;p17"/>
          <p:cNvPicPr preferRelativeResize="0"/>
          <p:nvPr/>
        </p:nvPicPr>
        <p:blipFill>
          <a:blip r:embed="rId3">
            <a:alphaModFix/>
          </a:blip>
          <a:stretch>
            <a:fillRect/>
          </a:stretch>
        </p:blipFill>
        <p:spPr>
          <a:xfrm>
            <a:off x="494238" y="1790500"/>
            <a:ext cx="8155524" cy="3771924"/>
          </a:xfrm>
          <a:prstGeom prst="rect">
            <a:avLst/>
          </a:prstGeom>
          <a:noFill/>
          <a:ln>
            <a:noFill/>
          </a:ln>
        </p:spPr>
      </p:pic>
    </p:spTree>
  </p:cSld>
  <p:clrMapOvr>
    <a:masterClrMapping/>
  </p:clrMapOvr>
  <p:transition>
    <p:fade thruBlk="1"/>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18"/>
          <p:cNvSpPr txBox="1"/>
          <p:nvPr/>
        </p:nvSpPr>
        <p:spPr>
          <a:xfrm>
            <a:off x="467544" y="260648"/>
            <a:ext cx="5400600" cy="585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3200" b="1">
                <a:solidFill>
                  <a:schemeClr val="dk1"/>
                </a:solidFill>
                <a:latin typeface="Times New Roman"/>
                <a:ea typeface="Times New Roman"/>
                <a:cs typeface="Times New Roman"/>
                <a:sym typeface="Times New Roman"/>
              </a:rPr>
              <a:t>Our Design</a:t>
            </a:r>
            <a:endParaRPr sz="3200" b="1">
              <a:solidFill>
                <a:schemeClr val="dk1"/>
              </a:solidFill>
              <a:latin typeface="Times New Roman"/>
              <a:ea typeface="Times New Roman"/>
              <a:cs typeface="Times New Roman"/>
              <a:sym typeface="Times New Roman"/>
            </a:endParaRPr>
          </a:p>
        </p:txBody>
      </p:sp>
      <p:sp>
        <p:nvSpPr>
          <p:cNvPr id="146" name="Google Shape;146;p18"/>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14</a:t>
            </a:fld>
            <a:endParaRPr/>
          </a:p>
        </p:txBody>
      </p:sp>
      <p:pic>
        <p:nvPicPr>
          <p:cNvPr id="147" name="Google Shape;147;p18"/>
          <p:cNvPicPr preferRelativeResize="0"/>
          <p:nvPr/>
        </p:nvPicPr>
        <p:blipFill>
          <a:blip r:embed="rId3">
            <a:alphaModFix/>
          </a:blip>
          <a:stretch>
            <a:fillRect/>
          </a:stretch>
        </p:blipFill>
        <p:spPr>
          <a:xfrm>
            <a:off x="241275" y="1299325"/>
            <a:ext cx="8661452" cy="4000501"/>
          </a:xfrm>
          <a:prstGeom prst="rect">
            <a:avLst/>
          </a:prstGeom>
          <a:noFill/>
          <a:ln>
            <a:noFill/>
          </a:ln>
        </p:spPr>
      </p:pic>
    </p:spTree>
  </p:cSld>
  <p:clrMapOvr>
    <a:masterClrMapping/>
  </p:clrMapOvr>
  <p:transition>
    <p:fade thruBlk="1"/>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19"/>
          <p:cNvSpPr txBox="1"/>
          <p:nvPr/>
        </p:nvSpPr>
        <p:spPr>
          <a:xfrm>
            <a:off x="467544" y="260648"/>
            <a:ext cx="5400600" cy="585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3200" b="1">
                <a:solidFill>
                  <a:schemeClr val="dk1"/>
                </a:solidFill>
                <a:latin typeface="Times New Roman"/>
                <a:ea typeface="Times New Roman"/>
                <a:cs typeface="Times New Roman"/>
                <a:sym typeface="Times New Roman"/>
              </a:rPr>
              <a:t>Our Design</a:t>
            </a:r>
            <a:endParaRPr sz="3200" b="1">
              <a:solidFill>
                <a:schemeClr val="dk1"/>
              </a:solidFill>
              <a:latin typeface="Times New Roman"/>
              <a:ea typeface="Times New Roman"/>
              <a:cs typeface="Times New Roman"/>
              <a:sym typeface="Times New Roman"/>
            </a:endParaRPr>
          </a:p>
        </p:txBody>
      </p:sp>
      <p:sp>
        <p:nvSpPr>
          <p:cNvPr id="153" name="Google Shape;153;p19"/>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15</a:t>
            </a:fld>
            <a:endParaRPr/>
          </a:p>
        </p:txBody>
      </p:sp>
      <p:pic>
        <p:nvPicPr>
          <p:cNvPr id="154" name="Google Shape;154;p19"/>
          <p:cNvPicPr preferRelativeResize="0"/>
          <p:nvPr/>
        </p:nvPicPr>
        <p:blipFill>
          <a:blip r:embed="rId3">
            <a:alphaModFix/>
          </a:blip>
          <a:stretch>
            <a:fillRect/>
          </a:stretch>
        </p:blipFill>
        <p:spPr>
          <a:xfrm>
            <a:off x="152400" y="1863348"/>
            <a:ext cx="8839200" cy="4193096"/>
          </a:xfrm>
          <a:prstGeom prst="rect">
            <a:avLst/>
          </a:prstGeom>
          <a:noFill/>
          <a:ln>
            <a:noFill/>
          </a:ln>
        </p:spPr>
      </p:pic>
      <p:sp>
        <p:nvSpPr>
          <p:cNvPr id="155" name="Google Shape;155;p19"/>
          <p:cNvSpPr txBox="1"/>
          <p:nvPr/>
        </p:nvSpPr>
        <p:spPr>
          <a:xfrm>
            <a:off x="3362375" y="988925"/>
            <a:ext cx="2133600" cy="45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IN" sz="3200">
                <a:solidFill>
                  <a:schemeClr val="dk1"/>
                </a:solidFill>
                <a:latin typeface="Calibri"/>
                <a:ea typeface="Calibri"/>
                <a:cs typeface="Calibri"/>
                <a:sym typeface="Calibri"/>
              </a:rPr>
              <a:t>User Profile</a:t>
            </a:r>
            <a:endParaRPr sz="3200">
              <a:solidFill>
                <a:schemeClr val="dk1"/>
              </a:solidFill>
              <a:latin typeface="Calibri"/>
              <a:ea typeface="Calibri"/>
              <a:cs typeface="Calibri"/>
              <a:sym typeface="Calibri"/>
            </a:endParaRPr>
          </a:p>
        </p:txBody>
      </p:sp>
    </p:spTree>
  </p:cSld>
  <p:clrMapOvr>
    <a:masterClrMapping/>
  </p:clrMapOvr>
  <p:transition>
    <p:fade thruBlk="1"/>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20"/>
          <p:cNvSpPr txBox="1"/>
          <p:nvPr/>
        </p:nvSpPr>
        <p:spPr>
          <a:xfrm>
            <a:off x="467544" y="260648"/>
            <a:ext cx="5400600" cy="585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3200" b="1">
                <a:solidFill>
                  <a:schemeClr val="dk1"/>
                </a:solidFill>
                <a:latin typeface="Times New Roman"/>
                <a:ea typeface="Times New Roman"/>
                <a:cs typeface="Times New Roman"/>
                <a:sym typeface="Times New Roman"/>
              </a:rPr>
              <a:t>Our Design</a:t>
            </a:r>
            <a:endParaRPr sz="3200" b="1">
              <a:solidFill>
                <a:schemeClr val="dk1"/>
              </a:solidFill>
              <a:latin typeface="Times New Roman"/>
              <a:ea typeface="Times New Roman"/>
              <a:cs typeface="Times New Roman"/>
              <a:sym typeface="Times New Roman"/>
            </a:endParaRPr>
          </a:p>
        </p:txBody>
      </p:sp>
      <p:sp>
        <p:nvSpPr>
          <p:cNvPr id="161" name="Google Shape;161;p20"/>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16</a:t>
            </a:fld>
            <a:endParaRPr/>
          </a:p>
        </p:txBody>
      </p:sp>
      <p:pic>
        <p:nvPicPr>
          <p:cNvPr id="162" name="Google Shape;162;p20"/>
          <p:cNvPicPr preferRelativeResize="0"/>
          <p:nvPr/>
        </p:nvPicPr>
        <p:blipFill>
          <a:blip r:embed="rId3">
            <a:alphaModFix/>
          </a:blip>
          <a:stretch>
            <a:fillRect/>
          </a:stretch>
        </p:blipFill>
        <p:spPr>
          <a:xfrm>
            <a:off x="223650" y="1976400"/>
            <a:ext cx="8696692" cy="4000500"/>
          </a:xfrm>
          <a:prstGeom prst="rect">
            <a:avLst/>
          </a:prstGeom>
          <a:noFill/>
          <a:ln>
            <a:noFill/>
          </a:ln>
        </p:spPr>
      </p:pic>
      <p:sp>
        <p:nvSpPr>
          <p:cNvPr id="163" name="Google Shape;163;p20"/>
          <p:cNvSpPr txBox="1"/>
          <p:nvPr/>
        </p:nvSpPr>
        <p:spPr>
          <a:xfrm>
            <a:off x="3271800" y="1020150"/>
            <a:ext cx="2600400" cy="569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IN" sz="2500">
                <a:solidFill>
                  <a:schemeClr val="dk1"/>
                </a:solidFill>
                <a:latin typeface="Times New Roman"/>
                <a:ea typeface="Times New Roman"/>
                <a:cs typeface="Times New Roman"/>
                <a:sym typeface="Times New Roman"/>
              </a:rPr>
              <a:t>Admin Dashboard</a:t>
            </a:r>
            <a:endParaRPr sz="2500">
              <a:solidFill>
                <a:schemeClr val="dk1"/>
              </a:solidFill>
              <a:latin typeface="Times New Roman"/>
              <a:ea typeface="Times New Roman"/>
              <a:cs typeface="Times New Roman"/>
              <a:sym typeface="Times New Roman"/>
            </a:endParaRPr>
          </a:p>
        </p:txBody>
      </p:sp>
    </p:spTree>
  </p:cSld>
  <p:clrMapOvr>
    <a:masterClrMapping/>
  </p:clrMapOvr>
  <p:transition>
    <p:fade thruBlk="1"/>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21"/>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IN" b="1"/>
              <a:t>Future Scope</a:t>
            </a:r>
            <a:endParaRPr/>
          </a:p>
        </p:txBody>
      </p:sp>
      <p:sp>
        <p:nvSpPr>
          <p:cNvPr id="169" name="Google Shape;169;p21"/>
          <p:cNvSpPr txBox="1">
            <a:spLocks noGrp="1"/>
          </p:cNvSpPr>
          <p:nvPr>
            <p:ph type="body" idx="1"/>
          </p:nvPr>
        </p:nvSpPr>
        <p:spPr>
          <a:xfrm>
            <a:off x="457200" y="1089450"/>
            <a:ext cx="8229600" cy="4760237"/>
          </a:xfrm>
          <a:prstGeom prst="rect">
            <a:avLst/>
          </a:prstGeom>
          <a:noFill/>
          <a:ln>
            <a:noFill/>
          </a:ln>
        </p:spPr>
        <p:txBody>
          <a:bodyPr spcFirstLastPara="1" wrap="square" lIns="91425" tIns="45700" rIns="91425" bIns="45700" anchor="t" anchorCtr="0">
            <a:spAutoFit/>
          </a:bodyPr>
          <a:lstStyle/>
          <a:p>
            <a:pPr marL="342900" lvl="0" indent="-330200" algn="just" rtl="0">
              <a:spcBef>
                <a:spcPts val="360"/>
              </a:spcBef>
              <a:spcAft>
                <a:spcPts val="0"/>
              </a:spcAft>
              <a:buClr>
                <a:srgbClr val="0D0D0D"/>
              </a:buClr>
              <a:buSzPts val="2000"/>
              <a:buFont typeface="Times New Roman"/>
              <a:buChar char="•"/>
            </a:pPr>
            <a:r>
              <a:rPr lang="en-IN" sz="2000" b="1" dirty="0">
                <a:highlight>
                  <a:srgbClr val="FFFFFF"/>
                </a:highlight>
              </a:rPr>
              <a:t>Mobile Application: </a:t>
            </a:r>
            <a:r>
              <a:rPr lang="en-IN" sz="2000" dirty="0">
                <a:highlight>
                  <a:srgbClr val="FFFFFF"/>
                </a:highlight>
              </a:rPr>
              <a:t>Develop mobile applications to enable users to place orders and track deliveries on the go, which enhances the convenience and accessibility of customers.</a:t>
            </a:r>
            <a:endParaRPr sz="2000" dirty="0">
              <a:highlight>
                <a:srgbClr val="FFFFFF"/>
              </a:highlight>
            </a:endParaRPr>
          </a:p>
          <a:p>
            <a:pPr marL="342900" lvl="0" indent="0" algn="just" rtl="0">
              <a:spcBef>
                <a:spcPts val="360"/>
              </a:spcBef>
              <a:spcAft>
                <a:spcPts val="0"/>
              </a:spcAft>
              <a:buNone/>
            </a:pPr>
            <a:endParaRPr sz="2000" dirty="0">
              <a:highlight>
                <a:srgbClr val="FFFFFF"/>
              </a:highlight>
            </a:endParaRPr>
          </a:p>
          <a:p>
            <a:pPr marL="342900" lvl="0" indent="-330200" algn="just" rtl="0">
              <a:spcBef>
                <a:spcPts val="360"/>
              </a:spcBef>
              <a:spcAft>
                <a:spcPts val="0"/>
              </a:spcAft>
              <a:buClr>
                <a:srgbClr val="0D0D0D"/>
              </a:buClr>
              <a:buSzPts val="2000"/>
              <a:buFont typeface="Times New Roman"/>
              <a:buChar char="•"/>
            </a:pPr>
            <a:r>
              <a:rPr lang="en-IN" sz="2000" b="1" dirty="0">
                <a:highlight>
                  <a:srgbClr val="FFFFFF"/>
                </a:highlight>
              </a:rPr>
              <a:t>AI-Powered Recommendations: </a:t>
            </a:r>
            <a:r>
              <a:rPr lang="en-IN" sz="2000" dirty="0">
                <a:highlight>
                  <a:srgbClr val="FFFFFF"/>
                </a:highlight>
              </a:rPr>
              <a:t>Implement AI-powered algorithms that make personalized food recommendations to customers according to their preferences, resulting in higher customer satisfaction and greater revenue.</a:t>
            </a:r>
            <a:endParaRPr sz="2000" dirty="0">
              <a:highlight>
                <a:srgbClr val="FFFFFF"/>
              </a:highlight>
            </a:endParaRPr>
          </a:p>
          <a:p>
            <a:pPr marL="342900" lvl="0" indent="0" algn="just" rtl="0">
              <a:spcBef>
                <a:spcPts val="360"/>
              </a:spcBef>
              <a:spcAft>
                <a:spcPts val="0"/>
              </a:spcAft>
              <a:buNone/>
            </a:pPr>
            <a:endParaRPr sz="2000" dirty="0">
              <a:highlight>
                <a:srgbClr val="FFFFFF"/>
              </a:highlight>
            </a:endParaRPr>
          </a:p>
          <a:p>
            <a:pPr marL="342900" lvl="0" indent="-330200" algn="just" rtl="0">
              <a:spcBef>
                <a:spcPts val="360"/>
              </a:spcBef>
              <a:spcAft>
                <a:spcPts val="0"/>
              </a:spcAft>
              <a:buClr>
                <a:srgbClr val="0D0D0D"/>
              </a:buClr>
              <a:buSzPts val="2000"/>
              <a:buFont typeface="Times New Roman"/>
              <a:buChar char="•"/>
            </a:pPr>
            <a:r>
              <a:rPr lang="en-IN" sz="2000" b="1" dirty="0">
                <a:highlight>
                  <a:srgbClr val="FFFFFF"/>
                </a:highlight>
              </a:rPr>
              <a:t>Multi-language Support: </a:t>
            </a:r>
            <a:r>
              <a:rPr lang="en-IN" sz="2000" dirty="0">
                <a:highlight>
                  <a:srgbClr val="FFFFFF"/>
                </a:highlight>
              </a:rPr>
              <a:t>Multiple language options so that the platform can be used by a wide array of customers from different demographics.</a:t>
            </a:r>
            <a:endParaRPr sz="2000" dirty="0">
              <a:highlight>
                <a:srgbClr val="FFFFFF"/>
              </a:highlight>
            </a:endParaRPr>
          </a:p>
          <a:p>
            <a:pPr marL="342900" lvl="0" indent="0" algn="just" rtl="0">
              <a:spcBef>
                <a:spcPts val="360"/>
              </a:spcBef>
              <a:spcAft>
                <a:spcPts val="0"/>
              </a:spcAft>
              <a:buNone/>
            </a:pPr>
            <a:endParaRPr sz="2000" dirty="0">
              <a:highlight>
                <a:srgbClr val="FFFFFF"/>
              </a:highlight>
            </a:endParaRPr>
          </a:p>
          <a:p>
            <a:pPr marL="342900" lvl="0" indent="-330200" algn="just" rtl="0">
              <a:spcBef>
                <a:spcPts val="360"/>
              </a:spcBef>
              <a:spcAft>
                <a:spcPts val="0"/>
              </a:spcAft>
              <a:buClr>
                <a:srgbClr val="0D0D0D"/>
              </a:buClr>
              <a:buSzPts val="2000"/>
              <a:buFont typeface="Times New Roman"/>
              <a:buChar char="•"/>
            </a:pPr>
            <a:r>
              <a:rPr lang="en-IN" sz="2000" b="1" dirty="0">
                <a:highlight>
                  <a:srgbClr val="FFFFFF"/>
                </a:highlight>
              </a:rPr>
              <a:t>Reward System: </a:t>
            </a:r>
            <a:r>
              <a:rPr lang="en-IN" sz="2000" dirty="0">
                <a:highlight>
                  <a:srgbClr val="FFFFFF"/>
                </a:highlight>
              </a:rPr>
              <a:t>Design a rewards system tailored for frequent customers, targeted to increase repeat business and build customer loyalty with incentives and special offers.</a:t>
            </a:r>
            <a:endParaRPr sz="2000" b="1" dirty="0">
              <a:solidFill>
                <a:srgbClr val="0D0D0D"/>
              </a:solidFill>
              <a:highlight>
                <a:srgbClr val="FFFFFF"/>
              </a:highlight>
            </a:endParaRPr>
          </a:p>
        </p:txBody>
      </p:sp>
      <p:sp>
        <p:nvSpPr>
          <p:cNvPr id="170" name="Google Shape;170;p2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17</a:t>
            </a:fld>
            <a:endParaRPr/>
          </a:p>
        </p:txBody>
      </p:sp>
    </p:spTree>
  </p:cSld>
  <p:clrMapOvr>
    <a:masterClrMapping/>
  </p:clrMapOvr>
  <p:transition>
    <p:fade thruBlk="1"/>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22"/>
          <p:cNvSpPr txBox="1"/>
          <p:nvPr/>
        </p:nvSpPr>
        <p:spPr>
          <a:xfrm>
            <a:off x="467544" y="260648"/>
            <a:ext cx="5400600"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3200" b="1">
                <a:solidFill>
                  <a:schemeClr val="dk1"/>
                </a:solidFill>
                <a:latin typeface="Times New Roman"/>
                <a:ea typeface="Times New Roman"/>
                <a:cs typeface="Times New Roman"/>
                <a:sym typeface="Times New Roman"/>
              </a:rPr>
              <a:t>CONCLUSION</a:t>
            </a:r>
            <a:endParaRPr/>
          </a:p>
        </p:txBody>
      </p:sp>
      <p:sp>
        <p:nvSpPr>
          <p:cNvPr id="176" name="Google Shape;176;p2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18</a:t>
            </a:fld>
            <a:endParaRPr/>
          </a:p>
        </p:txBody>
      </p:sp>
      <p:sp>
        <p:nvSpPr>
          <p:cNvPr id="177" name="Google Shape;177;p22"/>
          <p:cNvSpPr txBox="1"/>
          <p:nvPr/>
        </p:nvSpPr>
        <p:spPr>
          <a:xfrm>
            <a:off x="467544" y="1412776"/>
            <a:ext cx="8424900" cy="5017800"/>
          </a:xfrm>
          <a:prstGeom prst="rect">
            <a:avLst/>
          </a:prstGeom>
          <a:noFill/>
          <a:ln>
            <a:noFill/>
          </a:ln>
        </p:spPr>
        <p:txBody>
          <a:bodyPr spcFirstLastPara="1" wrap="square" lIns="91425" tIns="45700" rIns="91425" bIns="45700" anchor="t" anchorCtr="0">
            <a:spAutoFit/>
          </a:bodyPr>
          <a:lstStyle/>
          <a:p>
            <a:pPr marL="457200" lvl="0" indent="-355600" algn="l" rtl="0">
              <a:spcBef>
                <a:spcPts val="0"/>
              </a:spcBef>
              <a:spcAft>
                <a:spcPts val="0"/>
              </a:spcAft>
              <a:buClr>
                <a:schemeClr val="dk1"/>
              </a:buClr>
              <a:buSzPts val="2000"/>
              <a:buFont typeface="Times New Roman"/>
              <a:buChar char="•"/>
            </a:pPr>
            <a:r>
              <a:rPr lang="en-IN" sz="2000">
                <a:solidFill>
                  <a:schemeClr val="dk1"/>
                </a:solidFill>
                <a:highlight>
                  <a:srgbClr val="FFFFFF"/>
                </a:highlight>
                <a:latin typeface="Times New Roman"/>
                <a:ea typeface="Times New Roman"/>
                <a:cs typeface="Times New Roman"/>
                <a:sym typeface="Times New Roman"/>
              </a:rPr>
              <a:t>Foodie consolidates essential components of food ordering and delivery into one efficient platform, which signifies a huge leap forward in the food service industry. It offers easy order management, payment processing, and tracking of delivery, therefore ensuring better operational efficiency and heightened customer satisfaction.</a:t>
            </a:r>
            <a:endParaRPr sz="2000">
              <a:solidFill>
                <a:schemeClr val="dk1"/>
              </a:solidFill>
              <a:highlight>
                <a:srgbClr val="FFFFFF"/>
              </a:highlight>
              <a:latin typeface="Times New Roman"/>
              <a:ea typeface="Times New Roman"/>
              <a:cs typeface="Times New Roman"/>
              <a:sym typeface="Times New Roman"/>
            </a:endParaRPr>
          </a:p>
          <a:p>
            <a:pPr marL="457200" lvl="0" indent="-355600" algn="l" rtl="0">
              <a:spcBef>
                <a:spcPts val="0"/>
              </a:spcBef>
              <a:spcAft>
                <a:spcPts val="0"/>
              </a:spcAft>
              <a:buClr>
                <a:schemeClr val="dk1"/>
              </a:buClr>
              <a:buSzPts val="2000"/>
              <a:buFont typeface="Times New Roman"/>
              <a:buChar char="•"/>
            </a:pPr>
            <a:r>
              <a:rPr lang="en-IN" sz="2000">
                <a:solidFill>
                  <a:schemeClr val="dk1"/>
                </a:solidFill>
                <a:highlight>
                  <a:srgbClr val="FFFFFF"/>
                </a:highlight>
                <a:latin typeface="Times New Roman"/>
                <a:ea typeface="Times New Roman"/>
                <a:cs typeface="Times New Roman"/>
                <a:sym typeface="Times New Roman"/>
              </a:rPr>
              <a:t>With impending enhancements like mobile accessibility, AI-based suggestions, and a loyalty program in the pipeline, Foodie is only about to become more powerful and pervasive. As the food service industry continues to change and evolve, Foodie will help restaurants adapt to customers' needs for speedier service, improved communication, and a more personalized experience.</a:t>
            </a:r>
            <a:endParaRPr sz="2000">
              <a:solidFill>
                <a:schemeClr val="dk1"/>
              </a:solidFill>
              <a:highlight>
                <a:srgbClr val="FFFFFF"/>
              </a:highlight>
              <a:latin typeface="Times New Roman"/>
              <a:ea typeface="Times New Roman"/>
              <a:cs typeface="Times New Roman"/>
              <a:sym typeface="Times New Roman"/>
            </a:endParaRPr>
          </a:p>
          <a:p>
            <a:pPr marL="457200" lvl="0" indent="-355600" algn="l" rtl="0">
              <a:spcBef>
                <a:spcPts val="0"/>
              </a:spcBef>
              <a:spcAft>
                <a:spcPts val="0"/>
              </a:spcAft>
              <a:buClr>
                <a:schemeClr val="dk1"/>
              </a:buClr>
              <a:buSzPts val="2000"/>
              <a:buFont typeface="Times New Roman"/>
              <a:buChar char="•"/>
            </a:pPr>
            <a:r>
              <a:rPr lang="en-IN" sz="2000">
                <a:solidFill>
                  <a:schemeClr val="dk1"/>
                </a:solidFill>
                <a:highlight>
                  <a:srgbClr val="FFFFFF"/>
                </a:highlight>
                <a:latin typeface="Times New Roman"/>
                <a:ea typeface="Times New Roman"/>
                <a:cs typeface="Times New Roman"/>
                <a:sym typeface="Times New Roman"/>
              </a:rPr>
              <a:t>Foodie will enable restaurants to expect an enhancement in resource management, customer satisfaction, and competitive advantage due to the increasingly expanding market. The platform is an invaluable instrument that enables treading through the complex contemporary food service and thus helps to give efficient and responsive operations.</a:t>
            </a:r>
            <a:endParaRPr sz="2000">
              <a:solidFill>
                <a:schemeClr val="dk1"/>
              </a:solidFill>
              <a:latin typeface="Times New Roman"/>
              <a:ea typeface="Times New Roman"/>
              <a:cs typeface="Times New Roman"/>
              <a:sym typeface="Times New Roman"/>
            </a:endParaRPr>
          </a:p>
        </p:txBody>
      </p:sp>
    </p:spTree>
  </p:cSld>
  <p:clrMapOvr>
    <a:masterClrMapping/>
  </p:clrMapOvr>
  <p:transition>
    <p:fade thruBlk="1"/>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23"/>
          <p:cNvSpPr txBox="1"/>
          <p:nvPr/>
        </p:nvSpPr>
        <p:spPr>
          <a:xfrm>
            <a:off x="467544" y="260648"/>
            <a:ext cx="5400600"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3200" b="1">
                <a:solidFill>
                  <a:schemeClr val="dk1"/>
                </a:solidFill>
                <a:latin typeface="Times New Roman"/>
                <a:ea typeface="Times New Roman"/>
                <a:cs typeface="Times New Roman"/>
                <a:sym typeface="Times New Roman"/>
              </a:rPr>
              <a:t>References/Links used</a:t>
            </a:r>
            <a:endParaRPr/>
          </a:p>
        </p:txBody>
      </p:sp>
      <p:sp>
        <p:nvSpPr>
          <p:cNvPr id="183" name="Google Shape;183;p23"/>
          <p:cNvSpPr txBox="1"/>
          <p:nvPr/>
        </p:nvSpPr>
        <p:spPr>
          <a:xfrm>
            <a:off x="467544" y="1196752"/>
            <a:ext cx="8280900" cy="4125000"/>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None/>
            </a:pPr>
            <a:r>
              <a:rPr lang="en-IN" sz="2800">
                <a:solidFill>
                  <a:schemeClr val="dk1"/>
                </a:solidFill>
                <a:latin typeface="Calibri"/>
                <a:ea typeface="Calibri"/>
                <a:cs typeface="Calibri"/>
                <a:sym typeface="Calibri"/>
              </a:rPr>
              <a:t>●	</a:t>
            </a:r>
            <a:r>
              <a:rPr lang="en-IN" sz="1800" u="sng">
                <a:solidFill>
                  <a:schemeClr val="hlink"/>
                </a:solidFill>
                <a:latin typeface="Calibri"/>
                <a:ea typeface="Calibri"/>
                <a:cs typeface="Calibri"/>
                <a:sym typeface="Calibri"/>
                <a:hlinkClick r:id="rId3"/>
              </a:rPr>
              <a:t>https://www.mongodb.com/docs/</a:t>
            </a:r>
            <a:endParaRPr sz="1800">
              <a:solidFill>
                <a:schemeClr val="dk1"/>
              </a:solidFill>
              <a:latin typeface="Calibri"/>
              <a:ea typeface="Calibri"/>
              <a:cs typeface="Calibri"/>
              <a:sym typeface="Calibri"/>
            </a:endParaRPr>
          </a:p>
          <a:p>
            <a:pPr marL="285750" marR="0" lvl="0" indent="-285750" algn="l" rtl="0">
              <a:spcBef>
                <a:spcPts val="0"/>
              </a:spcBef>
              <a:spcAft>
                <a:spcPts val="0"/>
              </a:spcAft>
              <a:buNone/>
            </a:pPr>
            <a:r>
              <a:rPr lang="en-IN" sz="1800">
                <a:solidFill>
                  <a:schemeClr val="dk1"/>
                </a:solidFill>
                <a:latin typeface="Calibri"/>
                <a:ea typeface="Calibri"/>
                <a:cs typeface="Calibri"/>
                <a:sym typeface="Calibri"/>
              </a:rPr>
              <a:t>●	</a:t>
            </a:r>
            <a:r>
              <a:rPr lang="en-IN" sz="1800" u="sng">
                <a:solidFill>
                  <a:schemeClr val="hlink"/>
                </a:solidFill>
                <a:latin typeface="Calibri"/>
                <a:ea typeface="Calibri"/>
                <a:cs typeface="Calibri"/>
                <a:sym typeface="Calibri"/>
                <a:hlinkClick r:id="rId4"/>
              </a:rPr>
              <a:t>https://expressjs.com/</a:t>
            </a:r>
            <a:endParaRPr sz="1800">
              <a:solidFill>
                <a:schemeClr val="dk1"/>
              </a:solidFill>
              <a:latin typeface="Calibri"/>
              <a:ea typeface="Calibri"/>
              <a:cs typeface="Calibri"/>
              <a:sym typeface="Calibri"/>
            </a:endParaRPr>
          </a:p>
          <a:p>
            <a:pPr marL="285750" marR="0" lvl="0" indent="-285750" algn="l" rtl="0">
              <a:spcBef>
                <a:spcPts val="0"/>
              </a:spcBef>
              <a:spcAft>
                <a:spcPts val="0"/>
              </a:spcAft>
              <a:buNone/>
            </a:pPr>
            <a:r>
              <a:rPr lang="en-IN" sz="1800">
                <a:solidFill>
                  <a:schemeClr val="dk1"/>
                </a:solidFill>
                <a:latin typeface="Calibri"/>
                <a:ea typeface="Calibri"/>
                <a:cs typeface="Calibri"/>
                <a:sym typeface="Calibri"/>
              </a:rPr>
              <a:t>●	</a:t>
            </a:r>
            <a:r>
              <a:rPr lang="en-IN" sz="1800" u="sng">
                <a:solidFill>
                  <a:schemeClr val="hlink"/>
                </a:solidFill>
                <a:latin typeface="Calibri"/>
                <a:ea typeface="Calibri"/>
                <a:cs typeface="Calibri"/>
                <a:sym typeface="Calibri"/>
                <a:hlinkClick r:id="rId5"/>
              </a:rPr>
              <a:t>https://legacy.reactjs.org/docs/getting-started.html</a:t>
            </a:r>
            <a:endParaRPr sz="1800">
              <a:solidFill>
                <a:schemeClr val="dk1"/>
              </a:solidFill>
              <a:latin typeface="Calibri"/>
              <a:ea typeface="Calibri"/>
              <a:cs typeface="Calibri"/>
              <a:sym typeface="Calibri"/>
            </a:endParaRPr>
          </a:p>
          <a:p>
            <a:pPr marL="285750" marR="0" lvl="0" indent="-285750" algn="l" rtl="0">
              <a:spcBef>
                <a:spcPts val="0"/>
              </a:spcBef>
              <a:spcAft>
                <a:spcPts val="0"/>
              </a:spcAft>
              <a:buNone/>
            </a:pPr>
            <a:r>
              <a:rPr lang="en-IN" sz="1800">
                <a:solidFill>
                  <a:schemeClr val="dk1"/>
                </a:solidFill>
                <a:latin typeface="Calibri"/>
                <a:ea typeface="Calibri"/>
                <a:cs typeface="Calibri"/>
                <a:sym typeface="Calibri"/>
              </a:rPr>
              <a:t>●	</a:t>
            </a:r>
            <a:r>
              <a:rPr lang="en-IN" sz="1800" u="sng">
                <a:solidFill>
                  <a:schemeClr val="hlink"/>
                </a:solidFill>
                <a:latin typeface="Calibri"/>
                <a:ea typeface="Calibri"/>
                <a:cs typeface="Calibri"/>
                <a:sym typeface="Calibri"/>
                <a:hlinkClick r:id="rId6"/>
              </a:rPr>
              <a:t>https://nodejs.org/docs/latest/api/</a:t>
            </a:r>
            <a:endParaRPr sz="1800">
              <a:solidFill>
                <a:schemeClr val="dk1"/>
              </a:solidFill>
              <a:latin typeface="Calibri"/>
              <a:ea typeface="Calibri"/>
              <a:cs typeface="Calibri"/>
              <a:sym typeface="Calibri"/>
            </a:endParaRPr>
          </a:p>
          <a:p>
            <a:pPr marL="285750" marR="0" lvl="0" indent="-285750" algn="l" rtl="0">
              <a:spcBef>
                <a:spcPts val="0"/>
              </a:spcBef>
              <a:spcAft>
                <a:spcPts val="0"/>
              </a:spcAft>
              <a:buNone/>
            </a:pPr>
            <a:r>
              <a:rPr lang="en-IN" sz="1800">
                <a:solidFill>
                  <a:schemeClr val="dk1"/>
                </a:solidFill>
                <a:latin typeface="Calibri"/>
                <a:ea typeface="Calibri"/>
                <a:cs typeface="Calibri"/>
                <a:sym typeface="Calibri"/>
              </a:rPr>
              <a:t>●	</a:t>
            </a:r>
            <a:r>
              <a:rPr lang="en-IN" sz="1800" u="sng">
                <a:solidFill>
                  <a:schemeClr val="hlink"/>
                </a:solidFill>
                <a:latin typeface="Calibri"/>
                <a:ea typeface="Calibri"/>
                <a:cs typeface="Calibri"/>
                <a:sym typeface="Calibri"/>
                <a:hlinkClick r:id="rId7"/>
              </a:rPr>
              <a:t>https://redux.js.org/</a:t>
            </a:r>
            <a:endParaRPr sz="1800">
              <a:solidFill>
                <a:schemeClr val="dk1"/>
              </a:solidFill>
              <a:latin typeface="Calibri"/>
              <a:ea typeface="Calibri"/>
              <a:cs typeface="Calibri"/>
              <a:sym typeface="Calibri"/>
            </a:endParaRPr>
          </a:p>
          <a:p>
            <a:pPr marL="285750" marR="0" lvl="0" indent="-285750" algn="l" rtl="0">
              <a:spcBef>
                <a:spcPts val="0"/>
              </a:spcBef>
              <a:spcAft>
                <a:spcPts val="0"/>
              </a:spcAft>
              <a:buNone/>
            </a:pPr>
            <a:r>
              <a:rPr lang="en-IN" sz="1800">
                <a:solidFill>
                  <a:schemeClr val="dk1"/>
                </a:solidFill>
                <a:latin typeface="Calibri"/>
                <a:ea typeface="Calibri"/>
                <a:cs typeface="Calibri"/>
                <a:sym typeface="Calibri"/>
              </a:rPr>
              <a:t>●	</a:t>
            </a:r>
            <a:r>
              <a:rPr lang="en-IN" sz="1800" u="sng">
                <a:solidFill>
                  <a:schemeClr val="hlink"/>
                </a:solidFill>
                <a:latin typeface="Calibri"/>
                <a:ea typeface="Calibri"/>
                <a:cs typeface="Calibri"/>
                <a:sym typeface="Calibri"/>
                <a:hlinkClick r:id="rId8"/>
              </a:rPr>
              <a:t>https://nodemailer.com/</a:t>
            </a:r>
            <a:endParaRPr sz="1800">
              <a:solidFill>
                <a:schemeClr val="dk1"/>
              </a:solidFill>
              <a:latin typeface="Calibri"/>
              <a:ea typeface="Calibri"/>
              <a:cs typeface="Calibri"/>
              <a:sym typeface="Calibri"/>
            </a:endParaRPr>
          </a:p>
          <a:p>
            <a:pPr marL="285750" marR="0" lvl="0" indent="-285750" algn="l" rtl="0">
              <a:spcBef>
                <a:spcPts val="0"/>
              </a:spcBef>
              <a:spcAft>
                <a:spcPts val="0"/>
              </a:spcAft>
              <a:buNone/>
            </a:pPr>
            <a:r>
              <a:rPr lang="en-IN" sz="1800">
                <a:solidFill>
                  <a:schemeClr val="dk1"/>
                </a:solidFill>
                <a:latin typeface="Calibri"/>
                <a:ea typeface="Calibri"/>
                <a:cs typeface="Calibri"/>
                <a:sym typeface="Calibri"/>
              </a:rPr>
              <a:t>●	</a:t>
            </a:r>
            <a:r>
              <a:rPr lang="en-IN" sz="1800" u="sng">
                <a:solidFill>
                  <a:schemeClr val="hlink"/>
                </a:solidFill>
                <a:latin typeface="Calibri"/>
                <a:ea typeface="Calibri"/>
                <a:cs typeface="Calibri"/>
                <a:sym typeface="Calibri"/>
                <a:hlinkClick r:id="rId9"/>
              </a:rPr>
              <a:t>https://www.youtube.com</a:t>
            </a:r>
            <a:endParaRPr sz="1800">
              <a:solidFill>
                <a:schemeClr val="dk1"/>
              </a:solidFill>
              <a:latin typeface="Calibri"/>
              <a:ea typeface="Calibri"/>
              <a:cs typeface="Calibri"/>
              <a:sym typeface="Calibri"/>
            </a:endParaRPr>
          </a:p>
          <a:p>
            <a:pPr marL="285750" marR="0" lvl="0" indent="-285750" algn="l" rtl="0">
              <a:spcBef>
                <a:spcPts val="0"/>
              </a:spcBef>
              <a:spcAft>
                <a:spcPts val="0"/>
              </a:spcAft>
              <a:buNone/>
            </a:pPr>
            <a:r>
              <a:rPr lang="en-IN" sz="1800">
                <a:solidFill>
                  <a:schemeClr val="dk1"/>
                </a:solidFill>
                <a:latin typeface="Calibri"/>
                <a:ea typeface="Calibri"/>
                <a:cs typeface="Calibri"/>
                <a:sym typeface="Calibri"/>
              </a:rPr>
              <a:t>●	Node.js Official Site</a:t>
            </a:r>
            <a:endParaRPr/>
          </a:p>
          <a:p>
            <a:pPr marL="285750" marR="0" lvl="0" indent="-285750" algn="l" rtl="0">
              <a:spcBef>
                <a:spcPts val="0"/>
              </a:spcBef>
              <a:spcAft>
                <a:spcPts val="0"/>
              </a:spcAft>
              <a:buNone/>
            </a:pPr>
            <a:r>
              <a:rPr lang="en-IN" sz="1800">
                <a:solidFill>
                  <a:schemeClr val="dk1"/>
                </a:solidFill>
                <a:latin typeface="Calibri"/>
                <a:ea typeface="Calibri"/>
                <a:cs typeface="Calibri"/>
                <a:sym typeface="Calibri"/>
              </a:rPr>
              <a:t>●	</a:t>
            </a:r>
            <a:r>
              <a:rPr lang="en-IN" sz="1800" u="sng">
                <a:solidFill>
                  <a:schemeClr val="hlink"/>
                </a:solidFill>
                <a:latin typeface="Calibri"/>
                <a:ea typeface="Calibri"/>
                <a:cs typeface="Calibri"/>
                <a:sym typeface="Calibri"/>
                <a:hlinkClick r:id="rId10"/>
              </a:rPr>
              <a:t>https://redux.js.org/introduction/getting-started</a:t>
            </a:r>
            <a:endParaRPr sz="1800">
              <a:solidFill>
                <a:schemeClr val="dk1"/>
              </a:solidFill>
              <a:latin typeface="Calibri"/>
              <a:ea typeface="Calibri"/>
              <a:cs typeface="Calibri"/>
              <a:sym typeface="Calibri"/>
            </a:endParaRPr>
          </a:p>
          <a:p>
            <a:pPr marL="285750" marR="0" lvl="0" indent="-285750" algn="l" rtl="0">
              <a:spcBef>
                <a:spcPts val="0"/>
              </a:spcBef>
              <a:spcAft>
                <a:spcPts val="0"/>
              </a:spcAft>
              <a:buNone/>
            </a:pPr>
            <a:r>
              <a:rPr lang="en-IN" sz="1800">
                <a:solidFill>
                  <a:schemeClr val="dk1"/>
                </a:solidFill>
                <a:latin typeface="Calibri"/>
                <a:ea typeface="Calibri"/>
                <a:cs typeface="Calibri"/>
                <a:sym typeface="Calibri"/>
              </a:rPr>
              <a:t>●	</a:t>
            </a:r>
            <a:r>
              <a:rPr lang="en-IN" sz="1800" u="sng">
                <a:solidFill>
                  <a:schemeClr val="hlink"/>
                </a:solidFill>
                <a:latin typeface="Calibri"/>
                <a:ea typeface="Calibri"/>
                <a:cs typeface="Calibri"/>
                <a:sym typeface="Calibri"/>
                <a:hlinkClick r:id="rId11"/>
              </a:rPr>
              <a:t>https://getbootstrap.com/docs/5.0/getting-started/introduction/</a:t>
            </a:r>
            <a:endParaRPr sz="1800">
              <a:solidFill>
                <a:schemeClr val="dk1"/>
              </a:solidFill>
              <a:latin typeface="Calibri"/>
              <a:ea typeface="Calibri"/>
              <a:cs typeface="Calibri"/>
              <a:sym typeface="Calibri"/>
            </a:endParaRPr>
          </a:p>
          <a:p>
            <a:pPr marL="285750" marR="0" lvl="0" indent="-285750" algn="l" rtl="0">
              <a:spcBef>
                <a:spcPts val="0"/>
              </a:spcBef>
              <a:spcAft>
                <a:spcPts val="0"/>
              </a:spcAft>
              <a:buNone/>
            </a:pPr>
            <a:r>
              <a:rPr lang="en-IN" sz="1800">
                <a:solidFill>
                  <a:schemeClr val="dk1"/>
                </a:solidFill>
                <a:latin typeface="Calibri"/>
                <a:ea typeface="Calibri"/>
                <a:cs typeface="Calibri"/>
                <a:sym typeface="Calibri"/>
              </a:rPr>
              <a:t>●	</a:t>
            </a:r>
            <a:r>
              <a:rPr lang="en-IN" sz="1800" u="sng">
                <a:solidFill>
                  <a:schemeClr val="hlink"/>
                </a:solidFill>
                <a:latin typeface="Calibri"/>
                <a:ea typeface="Calibri"/>
                <a:cs typeface="Calibri"/>
                <a:sym typeface="Calibri"/>
                <a:hlinkClick r:id="rId12"/>
              </a:rPr>
              <a:t>https://mongoosejs.com/docs/guide.html</a:t>
            </a:r>
            <a:endParaRPr sz="1800">
              <a:solidFill>
                <a:schemeClr val="dk1"/>
              </a:solidFill>
              <a:latin typeface="Calibri"/>
              <a:ea typeface="Calibri"/>
              <a:cs typeface="Calibri"/>
              <a:sym typeface="Calibri"/>
            </a:endParaRPr>
          </a:p>
          <a:p>
            <a:pPr marL="285750" marR="0" lvl="0" indent="-285750" algn="l" rtl="0">
              <a:spcBef>
                <a:spcPts val="0"/>
              </a:spcBef>
              <a:spcAft>
                <a:spcPts val="0"/>
              </a:spcAft>
              <a:buNone/>
            </a:pPr>
            <a:r>
              <a:rPr lang="en-IN" sz="1800">
                <a:solidFill>
                  <a:schemeClr val="dk1"/>
                </a:solidFill>
                <a:latin typeface="Calibri"/>
                <a:ea typeface="Calibri"/>
                <a:cs typeface="Calibri"/>
                <a:sym typeface="Calibri"/>
              </a:rPr>
              <a:t>●	</a:t>
            </a:r>
            <a:r>
              <a:rPr lang="en-IN" sz="1800" u="sng">
                <a:solidFill>
                  <a:schemeClr val="hlink"/>
                </a:solidFill>
                <a:latin typeface="Calibri"/>
                <a:ea typeface="Calibri"/>
                <a:cs typeface="Calibri"/>
                <a:sym typeface="Calibri"/>
                <a:hlinkClick r:id="rId13"/>
              </a:rPr>
              <a:t>https://webpack.js.org/concepts/</a:t>
            </a:r>
            <a:endParaRPr sz="1800">
              <a:solidFill>
                <a:schemeClr val="dk1"/>
              </a:solidFill>
              <a:latin typeface="Calibri"/>
              <a:ea typeface="Calibri"/>
              <a:cs typeface="Calibri"/>
              <a:sym typeface="Calibri"/>
            </a:endParaRPr>
          </a:p>
          <a:p>
            <a:pPr marL="285750" marR="0" lvl="0" indent="-285750" algn="l" rtl="0">
              <a:spcBef>
                <a:spcPts val="0"/>
              </a:spcBef>
              <a:spcAft>
                <a:spcPts val="0"/>
              </a:spcAft>
              <a:buNone/>
            </a:pPr>
            <a:r>
              <a:rPr lang="en-IN" sz="1800">
                <a:solidFill>
                  <a:schemeClr val="dk1"/>
                </a:solidFill>
                <a:latin typeface="Calibri"/>
                <a:ea typeface="Calibri"/>
                <a:cs typeface="Calibri"/>
                <a:sym typeface="Calibri"/>
              </a:rPr>
              <a:t>●	</a:t>
            </a:r>
            <a:r>
              <a:rPr lang="en-IN" sz="1800" u="sng">
                <a:solidFill>
                  <a:schemeClr val="hlink"/>
                </a:solidFill>
                <a:latin typeface="Calibri"/>
                <a:ea typeface="Calibri"/>
                <a:cs typeface="Calibri"/>
                <a:sym typeface="Calibri"/>
                <a:hlinkClick r:id="rId14"/>
              </a:rPr>
              <a:t>https://learning.postman.com/docs/getting-started/introduction/</a:t>
            </a:r>
            <a:endParaRPr/>
          </a:p>
          <a:p>
            <a:pPr marL="285750" marR="0" lvl="0" indent="-285750" algn="l" rtl="0">
              <a:spcBef>
                <a:spcPts val="0"/>
              </a:spcBef>
              <a:spcAft>
                <a:spcPts val="0"/>
              </a:spcAft>
              <a:buNone/>
            </a:pPr>
            <a:endParaRPr sz="1800">
              <a:solidFill>
                <a:schemeClr val="dk1"/>
              </a:solidFill>
              <a:latin typeface="Calibri"/>
              <a:ea typeface="Calibri"/>
              <a:cs typeface="Calibri"/>
              <a:sym typeface="Calibri"/>
            </a:endParaRPr>
          </a:p>
        </p:txBody>
      </p:sp>
      <p:sp>
        <p:nvSpPr>
          <p:cNvPr id="184" name="Google Shape;184;p2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19</a:t>
            </a:fld>
            <a:endParaRPr/>
          </a:p>
        </p:txBody>
      </p:sp>
    </p:spTree>
  </p:cSld>
  <p:clrMapOvr>
    <a:masterClrMapping/>
  </p:clrMapOvr>
  <p:transition>
    <p:fade thruBlk="1"/>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24" descr="Download The Best Thank You Slide For PPT Presentation"/>
          <p:cNvSpPr/>
          <p:nvPr/>
        </p:nvSpPr>
        <p:spPr>
          <a:xfrm>
            <a:off x="155575" y="-144463"/>
            <a:ext cx="304800" cy="30480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0" name="Google Shape;190;p24" descr="Download The Best Thank You Slide For PPT Presentation"/>
          <p:cNvSpPr/>
          <p:nvPr/>
        </p:nvSpPr>
        <p:spPr>
          <a:xfrm>
            <a:off x="155575" y="-144463"/>
            <a:ext cx="304800" cy="30480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1" name="Google Shape;191;p24" descr="Download The Best Thank You Slide For PPT Presentation"/>
          <p:cNvSpPr/>
          <p:nvPr/>
        </p:nvSpPr>
        <p:spPr>
          <a:xfrm>
            <a:off x="155575" y="-144463"/>
            <a:ext cx="304800" cy="30480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192" name="Google Shape;192;p24" descr="Thank you cards Images | Free Vectors, Stock Photos &amp; PSD"/>
          <p:cNvPicPr preferRelativeResize="0"/>
          <p:nvPr/>
        </p:nvPicPr>
        <p:blipFill rotWithShape="1">
          <a:blip r:embed="rId3">
            <a:alphaModFix/>
          </a:blip>
          <a:srcRect/>
          <a:stretch/>
        </p:blipFill>
        <p:spPr>
          <a:xfrm>
            <a:off x="0" y="857232"/>
            <a:ext cx="9144000" cy="5786478"/>
          </a:xfrm>
          <a:prstGeom prst="rect">
            <a:avLst/>
          </a:prstGeom>
          <a:noFill/>
          <a:ln>
            <a:noFill/>
          </a:ln>
        </p:spPr>
      </p:pic>
      <p:sp>
        <p:nvSpPr>
          <p:cNvPr id="193" name="Google Shape;193;p2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20</a:t>
            </a:fld>
            <a:endParaRPr/>
          </a:p>
        </p:txBody>
      </p:sp>
    </p:spTree>
  </p:cSld>
  <p:clrMapOvr>
    <a:masterClrMapping/>
  </p:clrMapOvr>
  <p:transition>
    <p:fade thruBlk="1"/>
  </p:transition>
</p:sld>
</file>

<file path=ppt/theme/theme1.xml><?xml version="1.0" encoding="utf-8"?>
<a:theme xmlns:a="http://schemas.openxmlformats.org/drawingml/2006/main" name="Bubble Sort">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1524</TotalTime>
  <Words>1511</Words>
  <Application>Microsoft Macintosh PowerPoint</Application>
  <PresentationFormat>On-screen Show (4:3)</PresentationFormat>
  <Paragraphs>126</Paragraphs>
  <Slides>20</Slides>
  <Notes>20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Times New Roman</vt:lpstr>
      <vt:lpstr>Bubble Sort</vt:lpstr>
      <vt:lpstr>PowerPoint Presentation</vt:lpstr>
      <vt:lpstr>Abstract</vt:lpstr>
      <vt:lpstr>PowerPoint Presentation</vt:lpstr>
      <vt:lpstr>PowerPoint Presentation</vt:lpstr>
      <vt:lpstr>Introduction</vt:lpstr>
      <vt:lpstr>PowerPoint Presentation</vt:lpstr>
      <vt:lpstr>Significance</vt:lpstr>
      <vt:lpstr>Software requirements</vt:lpstr>
      <vt:lpstr>Software requirements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Future Scope</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Arushi Gupta</dc:creator>
  <cp:lastModifiedBy>Microsoft Office User</cp:lastModifiedBy>
  <cp:revision>7</cp:revision>
  <dcterms:modified xsi:type="dcterms:W3CDTF">2026-03-25T11:44:45Z</dcterms:modified>
</cp:coreProperties>
</file>